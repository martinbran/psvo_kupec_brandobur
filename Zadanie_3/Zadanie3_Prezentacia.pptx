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4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0323" autoAdjust="0"/>
  </p:normalViewPr>
  <p:slideViewPr>
    <p:cSldViewPr snapToGrid="0" snapToObjects="1">
      <p:cViewPr varScale="1">
        <p:scale>
          <a:sx n="100" d="100"/>
          <a:sy n="100" d="100"/>
        </p:scale>
        <p:origin x="9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4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implementácia</a:t>
            </a: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(NumPy) vs OpenCV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Rozdiel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CLAHE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pochádza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iného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spôsobu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dlaždíc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OpenCV (C++).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Vizuálne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nerozoznateľné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pochopila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produkčný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však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mal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používať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OpenCV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D8B6-1525-29FB-6027-F4CD9372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C7AE0-97A0-6AB3-66C5-7D34914A3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899D3-468F-AE19-4DC6-F604EED89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C2C1A-23FA-490F-B4AD-2DB3B14E8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2774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81723-4093-53BE-D4B6-F33DC275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B0ECA-9B3A-6FB6-F95E-FD28635A5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DFBCC-A2EA-6A5D-2333-7E06F0502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2911D-6451-57E7-7CF7-69B5B55FC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72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7A985-9BF4-6F11-2E1E-06CA9F9D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B214A-12BC-09A0-B0F8-870AE6C39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63B56-1E05-C41A-40F4-3B8F5BEFE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533A5-D3B3-EAE3-E5A3-B50B668810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243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FE6DC-46F9-74C7-4F9D-EF33B41AC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781C2-EADF-3F7E-58B9-F26699795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C4C6C-EC56-A676-3A58-F1E0CC3BE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78028-F016-7A7A-549B-A0A35B86E2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30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7C1BD-3BBE-B5E0-1131-1765888C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16D1E-3F2E-9F2D-CE9B-FD4C0CF70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F3A38-2D6A-0CA2-E176-2C4BED947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283CF-8736-C287-CA0C-08C21DD56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67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Skupina 51">
            <a:extLst>
              <a:ext uri="{FF2B5EF4-FFF2-40B4-BE49-F238E27FC236}">
                <a16:creationId xmlns:a16="http://schemas.microsoft.com/office/drawing/2014/main" id="{15A38848-31B3-D043-986E-61C268A736D6}"/>
              </a:ext>
            </a:extLst>
          </p:cNvPr>
          <p:cNvGrpSpPr/>
          <p:nvPr/>
        </p:nvGrpSpPr>
        <p:grpSpPr>
          <a:xfrm>
            <a:off x="342207" y="2522269"/>
            <a:ext cx="2423160" cy="2560320"/>
            <a:chOff x="342207" y="2548890"/>
            <a:chExt cx="2423160" cy="2560320"/>
          </a:xfrm>
        </p:grpSpPr>
        <p:sp>
          <p:nvSpPr>
            <p:cNvPr id="38" name="Shape 36"/>
            <p:cNvSpPr/>
            <p:nvPr/>
          </p:nvSpPr>
          <p:spPr>
            <a:xfrm>
              <a:off x="342207" y="4377690"/>
              <a:ext cx="201168" cy="73152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39" name="Shape 37"/>
            <p:cNvSpPr/>
            <p:nvPr/>
          </p:nvSpPr>
          <p:spPr>
            <a:xfrm>
              <a:off x="589095" y="3829050"/>
              <a:ext cx="201168" cy="128016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0" name="Shape 38"/>
            <p:cNvSpPr/>
            <p:nvPr/>
          </p:nvSpPr>
          <p:spPr>
            <a:xfrm>
              <a:off x="835983" y="3188970"/>
              <a:ext cx="201168" cy="192024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1" name="Shape 39"/>
            <p:cNvSpPr/>
            <p:nvPr/>
          </p:nvSpPr>
          <p:spPr>
            <a:xfrm>
              <a:off x="1082871" y="3554730"/>
              <a:ext cx="201168" cy="155448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2" name="Shape 40"/>
            <p:cNvSpPr/>
            <p:nvPr/>
          </p:nvSpPr>
          <p:spPr>
            <a:xfrm>
              <a:off x="1329759" y="2548890"/>
              <a:ext cx="201168" cy="256032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3" name="Shape 41"/>
            <p:cNvSpPr/>
            <p:nvPr/>
          </p:nvSpPr>
          <p:spPr>
            <a:xfrm>
              <a:off x="1576647" y="4011930"/>
              <a:ext cx="201168" cy="109728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4" name="Shape 42"/>
            <p:cNvSpPr/>
            <p:nvPr/>
          </p:nvSpPr>
          <p:spPr>
            <a:xfrm>
              <a:off x="1823535" y="4286250"/>
              <a:ext cx="201168" cy="82296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5" name="Shape 43"/>
            <p:cNvSpPr/>
            <p:nvPr/>
          </p:nvSpPr>
          <p:spPr>
            <a:xfrm>
              <a:off x="2070423" y="3737610"/>
              <a:ext cx="201168" cy="137160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6" name="Shape 44"/>
            <p:cNvSpPr/>
            <p:nvPr/>
          </p:nvSpPr>
          <p:spPr>
            <a:xfrm>
              <a:off x="2317311" y="3006090"/>
              <a:ext cx="201168" cy="210312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7" name="Shape 45"/>
            <p:cNvSpPr/>
            <p:nvPr/>
          </p:nvSpPr>
          <p:spPr>
            <a:xfrm>
              <a:off x="2564199" y="4194810"/>
              <a:ext cx="201168" cy="91440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</p:grp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356429" y="9144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Histogramové metódy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zlepšenie kontrastu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429" y="3595393"/>
            <a:ext cx="5029200" cy="1191491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7" name="Text 5"/>
          <p:cNvSpPr/>
          <p:nvPr/>
        </p:nvSpPr>
        <p:spPr>
          <a:xfrm>
            <a:off x="356429" y="3657599"/>
            <a:ext cx="5120640" cy="11914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Autori: 		Dominik Kupec a Martin Brandobur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Študijný program: 	robotika a kybernetika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Študijný odbor: 	kybernetika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Predmet: 		počítačové videnie a spracovanie obrazu</a:t>
            </a:r>
          </a:p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7315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9" name="Shape 7"/>
          <p:cNvSpPr/>
          <p:nvPr/>
        </p:nvSpPr>
        <p:spPr>
          <a:xfrm>
            <a:off x="7040880" y="7315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Shape 8"/>
          <p:cNvSpPr/>
          <p:nvPr/>
        </p:nvSpPr>
        <p:spPr>
          <a:xfrm>
            <a:off x="74980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Shape 9"/>
          <p:cNvSpPr/>
          <p:nvPr/>
        </p:nvSpPr>
        <p:spPr>
          <a:xfrm>
            <a:off x="79552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10"/>
          <p:cNvSpPr/>
          <p:nvPr/>
        </p:nvSpPr>
        <p:spPr>
          <a:xfrm>
            <a:off x="8412480" y="7315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Shape 11"/>
          <p:cNvSpPr/>
          <p:nvPr/>
        </p:nvSpPr>
        <p:spPr>
          <a:xfrm>
            <a:off x="6583680" y="137160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Shape 12"/>
          <p:cNvSpPr/>
          <p:nvPr/>
        </p:nvSpPr>
        <p:spPr>
          <a:xfrm>
            <a:off x="7040880" y="137160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Shape 13"/>
          <p:cNvSpPr/>
          <p:nvPr/>
        </p:nvSpPr>
        <p:spPr>
          <a:xfrm>
            <a:off x="7498080" y="137160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Shape 15"/>
          <p:cNvSpPr/>
          <p:nvPr/>
        </p:nvSpPr>
        <p:spPr>
          <a:xfrm>
            <a:off x="84124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8" name="Shape 16"/>
          <p:cNvSpPr/>
          <p:nvPr/>
        </p:nvSpPr>
        <p:spPr>
          <a:xfrm>
            <a:off x="65836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Shape 17"/>
          <p:cNvSpPr/>
          <p:nvPr/>
        </p:nvSpPr>
        <p:spPr>
          <a:xfrm>
            <a:off x="7040880" y="201168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8"/>
          <p:cNvSpPr/>
          <p:nvPr/>
        </p:nvSpPr>
        <p:spPr>
          <a:xfrm>
            <a:off x="7498080" y="201168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19"/>
          <p:cNvSpPr/>
          <p:nvPr/>
        </p:nvSpPr>
        <p:spPr>
          <a:xfrm>
            <a:off x="7955280" y="201168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20"/>
          <p:cNvSpPr/>
          <p:nvPr/>
        </p:nvSpPr>
        <p:spPr>
          <a:xfrm>
            <a:off x="84124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Shape 21"/>
          <p:cNvSpPr/>
          <p:nvPr/>
        </p:nvSpPr>
        <p:spPr>
          <a:xfrm>
            <a:off x="65836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2"/>
          <p:cNvSpPr/>
          <p:nvPr/>
        </p:nvSpPr>
        <p:spPr>
          <a:xfrm>
            <a:off x="70408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Shape 23"/>
          <p:cNvSpPr/>
          <p:nvPr/>
        </p:nvSpPr>
        <p:spPr>
          <a:xfrm>
            <a:off x="7498080" y="265176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6" name="Shape 24"/>
          <p:cNvSpPr/>
          <p:nvPr/>
        </p:nvSpPr>
        <p:spPr>
          <a:xfrm>
            <a:off x="7955280" y="265176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Shape 25"/>
          <p:cNvSpPr/>
          <p:nvPr/>
        </p:nvSpPr>
        <p:spPr>
          <a:xfrm>
            <a:off x="8412480" y="265176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8" name="Shape 26"/>
          <p:cNvSpPr/>
          <p:nvPr/>
        </p:nvSpPr>
        <p:spPr>
          <a:xfrm>
            <a:off x="6583680" y="329184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9" name="Shape 27"/>
          <p:cNvSpPr/>
          <p:nvPr/>
        </p:nvSpPr>
        <p:spPr>
          <a:xfrm>
            <a:off x="70408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0" name="Shape 28"/>
          <p:cNvSpPr/>
          <p:nvPr/>
        </p:nvSpPr>
        <p:spPr>
          <a:xfrm>
            <a:off x="74980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Shape 29"/>
          <p:cNvSpPr/>
          <p:nvPr/>
        </p:nvSpPr>
        <p:spPr>
          <a:xfrm>
            <a:off x="7955280" y="329184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2" name="Shape 30"/>
          <p:cNvSpPr/>
          <p:nvPr/>
        </p:nvSpPr>
        <p:spPr>
          <a:xfrm>
            <a:off x="8412480" y="329184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3" name="Shape 31"/>
          <p:cNvSpPr/>
          <p:nvPr/>
        </p:nvSpPr>
        <p:spPr>
          <a:xfrm>
            <a:off x="6583680" y="39319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4" name="Shape 32"/>
          <p:cNvSpPr/>
          <p:nvPr/>
        </p:nvSpPr>
        <p:spPr>
          <a:xfrm>
            <a:off x="7040880" y="39319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5" name="Shape 33"/>
          <p:cNvSpPr/>
          <p:nvPr/>
        </p:nvSpPr>
        <p:spPr>
          <a:xfrm>
            <a:off x="74980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6" name="Shape 34"/>
          <p:cNvSpPr/>
          <p:nvPr/>
        </p:nvSpPr>
        <p:spPr>
          <a:xfrm>
            <a:off x="79552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7" name="Shape 35"/>
          <p:cNvSpPr/>
          <p:nvPr/>
        </p:nvSpPr>
        <p:spPr>
          <a:xfrm>
            <a:off x="8412480" y="39319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8" name="Shape 46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80E00163-380B-8713-6FC0-6D3169C70A99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58EFC75E-D161-998E-7C12-122B9D533688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Cieľ zadania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7" name="Text 5"/>
          <p:cNvSpPr/>
          <p:nvPr/>
        </p:nvSpPr>
        <p:spPr>
          <a:xfrm>
            <a:off x="45720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Výpočet histogramov pre každý farebný kanál (R, G, B) zvlášť + fitovanie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Gaussovej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krivky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Text 9"/>
          <p:cNvSpPr/>
          <p:nvPr/>
        </p:nvSpPr>
        <p:spPr>
          <a:xfrm>
            <a:off x="493776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Ekvalizácia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Klasická HE – vyrovnanie histogramu pre jednokanálový obraz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cez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LUT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Text 13"/>
          <p:cNvSpPr/>
          <p:nvPr/>
        </p:nvSpPr>
        <p:spPr>
          <a:xfrm>
            <a:off x="45720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Ekvalizácia cez priestor YCrCb – upravuje len kanál jasu (Y), zachováva farebnosť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Text 17"/>
          <p:cNvSpPr/>
          <p:nvPr/>
        </p:nvSpPr>
        <p:spPr>
          <a:xfrm>
            <a:off x="493776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Adaptívna HE s obmedzením kontrastu: mriežka 8×8 dlaždíc, clip limit 2.0, bilineárna interpolácia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Text 20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sa používa IBA na načítanie / zobrazenie obrazu a konverziu farebných priestorov — všetky výpočty sú implementované manuálne v NumPy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 – každý kanál samostatne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77240"/>
            <a:ext cx="850392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Manuálne cez </a:t>
            </a:r>
            <a:r>
              <a:rPr lang="en-US" sz="95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np.bincount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– Histogramová ekvalizácia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77240"/>
            <a:ext cx="85039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Metóda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LUT → remap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cv2.equalizeHist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Rýchlosť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4–6× pomalší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  (YCrCb priestor)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Priestor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→ YCrCb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 Y kanál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zachovaná</a:t>
            </a:r>
            <a:endParaRPr lang="en-US" sz="800" dirty="0"/>
          </a:p>
        </p:txBody>
      </p:sp>
      <p:pic>
        <p:nvPicPr>
          <p:cNvPr id="18" name="Obrázok 17">
            <a:extLst>
              <a:ext uri="{FF2B5EF4-FFF2-40B4-BE49-F238E27FC236}">
                <a16:creationId xmlns:a16="http://schemas.microsoft.com/office/drawing/2014/main" id="{82136F55-5A46-4B0A-B14B-3F3426E1F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690" y="749406"/>
            <a:ext cx="6525009" cy="3728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 (Contrast Limited Adaptive HE)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Mriežka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8 dlaždíc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bilineárna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≈ 1.0 px</a:t>
            </a:r>
            <a:endParaRPr lang="en-US" sz="800" dirty="0"/>
          </a:p>
        </p:txBody>
      </p:sp>
      <p:pic>
        <p:nvPicPr>
          <p:cNvPr id="18" name="Obrázok 17">
            <a:extLst>
              <a:ext uri="{FF2B5EF4-FFF2-40B4-BE49-F238E27FC236}">
                <a16:creationId xmlns:a16="http://schemas.microsoft.com/office/drawing/2014/main" id="{DC2140FA-965C-9514-F66D-54CB7FA36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0" y="744854"/>
            <a:ext cx="7471410" cy="3735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Porovnanie: Manuálna implementácia vs OpenCV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13152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PRESNOSŤ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22604"/>
              </p:ext>
            </p:extLst>
          </p:nvPr>
        </p:nvGraphicFramePr>
        <p:xfrm>
          <a:off x="274320" y="1837944"/>
          <a:ext cx="4023360" cy="2011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Metóda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|diff|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Hodnotenie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Ekvalizácia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Farebná ekvalizácia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CLAHE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5"/>
          <p:cNvSpPr/>
          <p:nvPr/>
        </p:nvSpPr>
        <p:spPr>
          <a:xfrm>
            <a:off x="365760" y="32004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273040" y="777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VÝPOČTOVÁ </a:t>
            </a:r>
            <a:r>
              <a:rPr lang="sk-SK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234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806440" y="130759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5806440" y="1307592"/>
            <a:ext cx="258897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Text 10"/>
          <p:cNvSpPr/>
          <p:nvPr/>
        </p:nvSpPr>
        <p:spPr>
          <a:xfrm>
            <a:off x="6111057" y="1307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</a:t>
            </a: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806440" y="203911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3"/>
          <p:cNvSpPr/>
          <p:nvPr/>
        </p:nvSpPr>
        <p:spPr>
          <a:xfrm>
            <a:off x="5806440" y="2039112"/>
            <a:ext cx="457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Text 14"/>
          <p:cNvSpPr/>
          <p:nvPr/>
        </p:nvSpPr>
        <p:spPr>
          <a:xfrm>
            <a:off x="5897880" y="2039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r>
              <a:rPr lang="sk-SK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0" y="2697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7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Text 18"/>
          <p:cNvSpPr/>
          <p:nvPr/>
        </p:nvSpPr>
        <p:spPr>
          <a:xfrm>
            <a:off x="8686800" y="27706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806440" y="350215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1"/>
          <p:cNvSpPr/>
          <p:nvPr/>
        </p:nvSpPr>
        <p:spPr>
          <a:xfrm>
            <a:off x="5806440" y="3502152"/>
            <a:ext cx="46299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Text 22"/>
          <p:cNvSpPr/>
          <p:nvPr/>
        </p:nvSpPr>
        <p:spPr>
          <a:xfrm>
            <a:off x="5898459" y="35021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 ms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806438" y="4080510"/>
            <a:ext cx="1417503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7" name="Text 24"/>
          <p:cNvSpPr/>
          <p:nvPr/>
        </p:nvSpPr>
        <p:spPr>
          <a:xfrm>
            <a:off x="5806439" y="4088130"/>
            <a:ext cx="1401897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</a:t>
            </a:r>
            <a:r>
              <a:rPr lang="sk-SK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lenie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577" y="4080510"/>
            <a:ext cx="1417503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 dirty="0"/>
          </a:p>
        </p:txBody>
      </p:sp>
      <p:sp>
        <p:nvSpPr>
          <p:cNvPr id="29" name="Text 26"/>
          <p:cNvSpPr/>
          <p:nvPr/>
        </p:nvSpPr>
        <p:spPr>
          <a:xfrm>
            <a:off x="7231562" y="4088130"/>
            <a:ext cx="14018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</a:t>
            </a:r>
            <a:r>
              <a:rPr lang="sk-SK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</a:t>
            </a: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</a:t>
            </a:r>
            <a:r>
              <a:rPr lang="sk-SK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lenie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4913376"/>
            <a:ext cx="9144000" cy="237744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Text 28"/>
          <p:cNvSpPr/>
          <p:nvPr/>
        </p:nvSpPr>
        <p:spPr>
          <a:xfrm>
            <a:off x="274320" y="491947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 CLAHE je pomalšia kvôli Python-level slučkám nad dlaždicami — OpenCV je implementovaná v C++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Manuálny histogram (NumPy bincount) je bitovo identický s OpenCV – diferencia =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6"/>
          <p:cNvSpPr/>
          <p:nvPr/>
        </p:nvSpPr>
        <p:spPr>
          <a:xfrm>
            <a:off x="502920" y="171907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Histogramová ekvalizácia dáva rovnaký výsledok (diff 0.00 px) – zaokrúhľovanie v LUT je zanedbateľné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78024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8"/>
          <p:cNvSpPr/>
          <p:nvPr/>
        </p:nvSpPr>
        <p:spPr>
          <a:xfrm>
            <a:off x="502920" y="2478024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CLAHE sa líši o ~1 px kvôli rozdielnej interpolácii hraničných dlaždíc v C++ vs Python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10"/>
          <p:cNvSpPr/>
          <p:nvPr/>
        </p:nvSpPr>
        <p:spPr>
          <a:xfrm>
            <a:off x="502920" y="3236976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OpenCV je ~</a:t>
            </a:r>
            <a:r>
              <a:rPr lang="sk-SK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rýchlejšia pri ekvalizácii a až ~6</a:t>
            </a:r>
            <a:r>
              <a:rPr lang="sk-SK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pri CLAHE vďaka natívnej C++ implementácii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995928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14" name="Text 12"/>
          <p:cNvSpPr/>
          <p:nvPr/>
        </p:nvSpPr>
        <p:spPr>
          <a:xfrm>
            <a:off x="502920" y="3995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sk-SK" sz="1200" dirty="0">
                <a:solidFill>
                  <a:schemeClr val="bg1"/>
                </a:solidFill>
              </a:rPr>
              <a:t>Výsledky boli takmer identické, pričom rozdiely boli minimálne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ADE8DCF2-F151-7195-E9B2-E6F64647CFE8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46">
            <a:extLst>
              <a:ext uri="{FF2B5EF4-FFF2-40B4-BE49-F238E27FC236}">
                <a16:creationId xmlns:a16="http://schemas.microsoft.com/office/drawing/2014/main" id="{9964E6E0-5A28-077E-0C11-09BF3D0713E3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5E3EDCEB-5488-3DE9-3375-7E357995B9B9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52665BEB-9AAC-902D-CC89-3396D38A0BC5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AB147C-44B0-325A-E439-B1177FD86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4F5A88-B20F-E8A7-C410-8D4C47A48E91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8276C5E-FABA-947E-F89E-C55B76AF4A55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F88EB1-D11A-7053-FF7C-89AFD23923F3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 – každý kanál samostatne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07A24BC-0BE5-3992-FCD9-BD1559943384}"/>
              </a:ext>
            </a:extLst>
          </p:cNvPr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9092417-86D8-BD22-13FE-CF0FDF213594}"/>
              </a:ext>
            </a:extLst>
          </p:cNvPr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E72A94D-44ED-23D6-03B2-4F8A44EFBC6E}"/>
              </a:ext>
            </a:extLst>
          </p:cNvPr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Manuálne cez </a:t>
            </a:r>
            <a:r>
              <a:rPr lang="en-US" sz="95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np.bincount</a:t>
            </a:r>
            <a:endParaRPr lang="en-US" sz="950" dirty="0"/>
          </a:p>
        </p:txBody>
      </p:sp>
      <p:pic>
        <p:nvPicPr>
          <p:cNvPr id="10" name="Obrázok 9">
            <a:extLst>
              <a:ext uri="{FF2B5EF4-FFF2-40B4-BE49-F238E27FC236}">
                <a16:creationId xmlns:a16="http://schemas.microsoft.com/office/drawing/2014/main" id="{6EFE5B21-36E1-9674-1018-945E705F9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828675"/>
            <a:ext cx="8503920" cy="372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5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8D7341-9976-D489-9164-8125B330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F1EEBB-3B57-3A99-5140-27E6DEE64169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D39702-4C44-301A-A6D2-F219D99ECE00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8094E2-74FD-DBBE-8E1D-7D82C05B0831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– Histogramová ekvalizácia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8A8B5D9-F968-A9F8-B560-639CE51BC7D7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779FFD3-937B-E18F-C457-881FA2755FFB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D4E4638-F923-61FE-8E7E-747C352D4F8B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Metóda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LUT → remap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2E36E67B-CF69-1CAE-0E00-E500EDDC7E7E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8585246-CEA5-0DB2-4563-33059A0D1856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C65A240-47E5-4D8D-DE86-F146649D868F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3B4C8BE-503F-CACC-D545-C512AB8F43DB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cv2.equalizeHist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33306FFA-FFD2-220C-7897-7FE799FFAA8C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10BBEF6-957A-2B2D-DC84-F0F3286328FB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Rýchlosť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4–6× pomalší</a:t>
            </a:r>
            <a:endParaRPr lang="en-US" sz="800" dirty="0"/>
          </a:p>
        </p:txBody>
      </p:sp>
      <p:pic>
        <p:nvPicPr>
          <p:cNvPr id="16" name="Obrázok 15">
            <a:extLst>
              <a:ext uri="{FF2B5EF4-FFF2-40B4-BE49-F238E27FC236}">
                <a16:creationId xmlns:a16="http://schemas.microsoft.com/office/drawing/2014/main" id="{84FBE71A-56F2-7BBB-3C7F-645D6C8C9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8595360" cy="376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01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664328-95B3-4AAA-3657-48912792C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A5E3A5-A5A8-7286-55F6-B527AFE15B7B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BBF51B-B638-F985-3516-3E72BE0E11C8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7BF76F-B0B4-2BA4-D6E4-43690CAD6D8C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  (YCrCb priestor)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0F8C92-7A37-70EC-1FF0-684C4C2F611C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1A9625-F939-C2E6-832B-91EB92667F92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19980D0-0FEC-E5AD-4A61-58E996BCF611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Priestor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→ YCrCb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08D9DE-1D6B-029D-E3D3-BF44DBAA0763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18FCF45-8A28-B01C-177C-C4CF41F0B68D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 Y kanál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D5641EE-45A4-9551-EB00-244C53368F3A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6CF0251-AD99-D8DD-4825-3449C5E55D31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D2CDB5B-9180-6182-DF75-7946328A844B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0077F3-015B-9D32-2FA0-B0AB6A84624C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zachovaná</a:t>
            </a:r>
            <a:endParaRPr lang="en-US" sz="800" dirty="0"/>
          </a:p>
        </p:txBody>
      </p:sp>
      <p:pic>
        <p:nvPicPr>
          <p:cNvPr id="15" name="Obrázok 14">
            <a:extLst>
              <a:ext uri="{FF2B5EF4-FFF2-40B4-BE49-F238E27FC236}">
                <a16:creationId xmlns:a16="http://schemas.microsoft.com/office/drawing/2014/main" id="{D06D5328-AF8A-FCDE-CDAE-A32ECD693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753642"/>
            <a:ext cx="6469380" cy="369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278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7FB4E7-E081-A7F9-4465-ABDC67D6D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FC32294-EADF-CADB-B7A3-2A93EDD4AE21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50145D8-9B5C-47AB-1FEC-A5D089DC05E6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588FC-2E7F-22F4-C90E-AE5980C07D8E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 (Contrast Limited Adaptive HE)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D8C7F0C-C268-DFC6-4B70-2AEC259E26C8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5E1EF06-26BC-C229-5337-6D3633263029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42E781-1A13-5D53-E80F-1828E11E7889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Mriežka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8 dlaždíc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F96EA5-1177-7ECA-7E66-8E63C7357999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D125C8-2452-5DFB-6D22-5A7D8D96E66C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DC7F29C-E0E9-0F3F-0B6E-20B282AEBE51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4D3555D-617B-9C03-858B-9C91ACC9EC32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bilineárna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E89E6B6-FB1C-69B0-D6D2-4B6CAD62EF52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6402BB-7987-8A6D-FED8-C9E0068D08F0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≈ 1.0 px</a:t>
            </a:r>
            <a:endParaRPr lang="en-US" sz="800" dirty="0"/>
          </a:p>
        </p:txBody>
      </p:sp>
      <p:pic>
        <p:nvPicPr>
          <p:cNvPr id="15" name="Obrázok 14">
            <a:extLst>
              <a:ext uri="{FF2B5EF4-FFF2-40B4-BE49-F238E27FC236}">
                <a16:creationId xmlns:a16="http://schemas.microsoft.com/office/drawing/2014/main" id="{713A2C8D-52CD-3250-E71B-8576C266B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7" y="758952"/>
            <a:ext cx="7405165" cy="370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377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7A69A-AD66-6AED-0FCD-CEC65E7B4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E977C3-F903-6036-BBAD-D6D206EDEEE5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55EC658-D98A-53DE-1B8A-10FFE6067407}"/>
              </a:ext>
            </a:extLst>
          </p:cNvPr>
          <p:cNvSpPr/>
          <p:nvPr/>
        </p:nvSpPr>
        <p:spPr>
          <a:xfrm>
            <a:off x="356429" y="9144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Ďakujeme za pozornosť</a:t>
            </a:r>
            <a:endParaRPr lang="en-US" sz="3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3EB00CF-AF82-F0F2-F534-2E660773B4CE}"/>
              </a:ext>
            </a:extLst>
          </p:cNvPr>
          <p:cNvSpPr/>
          <p:nvPr/>
        </p:nvSpPr>
        <p:spPr>
          <a:xfrm>
            <a:off x="6583680" y="7315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FD6E7F2-AE34-4151-AF6B-5FDBD970FDB3}"/>
              </a:ext>
            </a:extLst>
          </p:cNvPr>
          <p:cNvSpPr/>
          <p:nvPr/>
        </p:nvSpPr>
        <p:spPr>
          <a:xfrm>
            <a:off x="7040880" y="7315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36B7F7D-D2CB-6CB3-3602-709EC00B668D}"/>
              </a:ext>
            </a:extLst>
          </p:cNvPr>
          <p:cNvSpPr/>
          <p:nvPr/>
        </p:nvSpPr>
        <p:spPr>
          <a:xfrm>
            <a:off x="74980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874987D-1C17-F2EC-B75F-6B5E1DCEE52C}"/>
              </a:ext>
            </a:extLst>
          </p:cNvPr>
          <p:cNvSpPr/>
          <p:nvPr/>
        </p:nvSpPr>
        <p:spPr>
          <a:xfrm>
            <a:off x="79552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260AD6E-31B6-E3D1-B141-8FA06BFCBD4B}"/>
              </a:ext>
            </a:extLst>
          </p:cNvPr>
          <p:cNvSpPr/>
          <p:nvPr/>
        </p:nvSpPr>
        <p:spPr>
          <a:xfrm>
            <a:off x="8412480" y="7315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A4616A5-6EF5-A102-E67C-0DF7DCB14BDA}"/>
              </a:ext>
            </a:extLst>
          </p:cNvPr>
          <p:cNvSpPr/>
          <p:nvPr/>
        </p:nvSpPr>
        <p:spPr>
          <a:xfrm>
            <a:off x="6583680" y="137160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305609-426C-FD78-E242-563F289A8212}"/>
              </a:ext>
            </a:extLst>
          </p:cNvPr>
          <p:cNvSpPr/>
          <p:nvPr/>
        </p:nvSpPr>
        <p:spPr>
          <a:xfrm>
            <a:off x="7040880" y="137160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2B66769-66D0-048D-ED35-B83D5FB0843F}"/>
              </a:ext>
            </a:extLst>
          </p:cNvPr>
          <p:cNvSpPr/>
          <p:nvPr/>
        </p:nvSpPr>
        <p:spPr>
          <a:xfrm>
            <a:off x="7498080" y="137160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E906219-5066-05E8-407A-F95E19517855}"/>
              </a:ext>
            </a:extLst>
          </p:cNvPr>
          <p:cNvSpPr/>
          <p:nvPr/>
        </p:nvSpPr>
        <p:spPr>
          <a:xfrm>
            <a:off x="79552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53DFFFE-4796-CAF5-3BC3-9FBD0C79E6AD}"/>
              </a:ext>
            </a:extLst>
          </p:cNvPr>
          <p:cNvSpPr/>
          <p:nvPr/>
        </p:nvSpPr>
        <p:spPr>
          <a:xfrm>
            <a:off x="84124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F5DB196-71AC-81BC-6C22-AD5C1D298942}"/>
              </a:ext>
            </a:extLst>
          </p:cNvPr>
          <p:cNvSpPr/>
          <p:nvPr/>
        </p:nvSpPr>
        <p:spPr>
          <a:xfrm>
            <a:off x="65836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3ACDD5-7736-D3CE-7F4C-4767B40B6C2A}"/>
              </a:ext>
            </a:extLst>
          </p:cNvPr>
          <p:cNvSpPr/>
          <p:nvPr/>
        </p:nvSpPr>
        <p:spPr>
          <a:xfrm>
            <a:off x="7040880" y="201168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D97A2DA-05C7-C78B-F729-2B34D8130209}"/>
              </a:ext>
            </a:extLst>
          </p:cNvPr>
          <p:cNvSpPr/>
          <p:nvPr/>
        </p:nvSpPr>
        <p:spPr>
          <a:xfrm>
            <a:off x="7498080" y="201168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3440DE3-DACA-1F6E-4B47-BFAFF73F57E1}"/>
              </a:ext>
            </a:extLst>
          </p:cNvPr>
          <p:cNvSpPr/>
          <p:nvPr/>
        </p:nvSpPr>
        <p:spPr>
          <a:xfrm>
            <a:off x="7955280" y="201168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F5E5684-5235-C7C4-59C7-99599EEEBD88}"/>
              </a:ext>
            </a:extLst>
          </p:cNvPr>
          <p:cNvSpPr/>
          <p:nvPr/>
        </p:nvSpPr>
        <p:spPr>
          <a:xfrm>
            <a:off x="84124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27A2634-490A-0313-1525-05A37E69AB06}"/>
              </a:ext>
            </a:extLst>
          </p:cNvPr>
          <p:cNvSpPr/>
          <p:nvPr/>
        </p:nvSpPr>
        <p:spPr>
          <a:xfrm>
            <a:off x="65836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1666C0A-FFC6-E295-7228-93B33FA9FE2B}"/>
              </a:ext>
            </a:extLst>
          </p:cNvPr>
          <p:cNvSpPr/>
          <p:nvPr/>
        </p:nvSpPr>
        <p:spPr>
          <a:xfrm>
            <a:off x="70408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E50C836-C453-7C7A-4F4B-44ADBA9332EC}"/>
              </a:ext>
            </a:extLst>
          </p:cNvPr>
          <p:cNvSpPr/>
          <p:nvPr/>
        </p:nvSpPr>
        <p:spPr>
          <a:xfrm>
            <a:off x="7498080" y="265176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373F157-79A6-1D1A-62B7-CB5C0188CA90}"/>
              </a:ext>
            </a:extLst>
          </p:cNvPr>
          <p:cNvSpPr/>
          <p:nvPr/>
        </p:nvSpPr>
        <p:spPr>
          <a:xfrm>
            <a:off x="7955280" y="265176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97C55F0-39D4-3248-46A0-3A85C57A8DCF}"/>
              </a:ext>
            </a:extLst>
          </p:cNvPr>
          <p:cNvSpPr/>
          <p:nvPr/>
        </p:nvSpPr>
        <p:spPr>
          <a:xfrm>
            <a:off x="8412480" y="265176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AF05362-D951-E524-EC1E-3C1E09B70D49}"/>
              </a:ext>
            </a:extLst>
          </p:cNvPr>
          <p:cNvSpPr/>
          <p:nvPr/>
        </p:nvSpPr>
        <p:spPr>
          <a:xfrm>
            <a:off x="6583680" y="329184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F5D0CCA-5FE7-75D0-A4C9-34FABF6303B2}"/>
              </a:ext>
            </a:extLst>
          </p:cNvPr>
          <p:cNvSpPr/>
          <p:nvPr/>
        </p:nvSpPr>
        <p:spPr>
          <a:xfrm>
            <a:off x="70408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555A7E7-0755-306F-9DDB-59DCBBDBA621}"/>
              </a:ext>
            </a:extLst>
          </p:cNvPr>
          <p:cNvSpPr/>
          <p:nvPr/>
        </p:nvSpPr>
        <p:spPr>
          <a:xfrm>
            <a:off x="74980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6FA9F2B-EA9B-555D-116E-D0BA17A12E1A}"/>
              </a:ext>
            </a:extLst>
          </p:cNvPr>
          <p:cNvSpPr/>
          <p:nvPr/>
        </p:nvSpPr>
        <p:spPr>
          <a:xfrm>
            <a:off x="7955280" y="329184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853BB65-09D5-8A39-A3FA-B1BC825DC4EB}"/>
              </a:ext>
            </a:extLst>
          </p:cNvPr>
          <p:cNvSpPr/>
          <p:nvPr/>
        </p:nvSpPr>
        <p:spPr>
          <a:xfrm>
            <a:off x="8412480" y="329184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C075691B-AC29-F6E6-EC01-DA5BB7A4CABB}"/>
              </a:ext>
            </a:extLst>
          </p:cNvPr>
          <p:cNvSpPr/>
          <p:nvPr/>
        </p:nvSpPr>
        <p:spPr>
          <a:xfrm>
            <a:off x="6583680" y="39319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C1E585DE-84EE-E627-A150-B974195920F8}"/>
              </a:ext>
            </a:extLst>
          </p:cNvPr>
          <p:cNvSpPr/>
          <p:nvPr/>
        </p:nvSpPr>
        <p:spPr>
          <a:xfrm>
            <a:off x="7040880" y="39319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A7D903D-FE39-24DE-8854-0A94BCA11560}"/>
              </a:ext>
            </a:extLst>
          </p:cNvPr>
          <p:cNvSpPr/>
          <p:nvPr/>
        </p:nvSpPr>
        <p:spPr>
          <a:xfrm>
            <a:off x="74980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A7849B3-8E95-DE0D-4FF0-29EA3D2B7A84}"/>
              </a:ext>
            </a:extLst>
          </p:cNvPr>
          <p:cNvSpPr/>
          <p:nvPr/>
        </p:nvSpPr>
        <p:spPr>
          <a:xfrm>
            <a:off x="79552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2D05DFE1-F207-4E16-F90F-737FC491D674}"/>
              </a:ext>
            </a:extLst>
          </p:cNvPr>
          <p:cNvSpPr/>
          <p:nvPr/>
        </p:nvSpPr>
        <p:spPr>
          <a:xfrm>
            <a:off x="8412480" y="39319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grpSp>
        <p:nvGrpSpPr>
          <p:cNvPr id="49" name="Skupina 48">
            <a:extLst>
              <a:ext uri="{FF2B5EF4-FFF2-40B4-BE49-F238E27FC236}">
                <a16:creationId xmlns:a16="http://schemas.microsoft.com/office/drawing/2014/main" id="{02229EBE-6693-3E35-1263-65294209A956}"/>
              </a:ext>
            </a:extLst>
          </p:cNvPr>
          <p:cNvGrpSpPr/>
          <p:nvPr/>
        </p:nvGrpSpPr>
        <p:grpSpPr>
          <a:xfrm>
            <a:off x="342207" y="2519172"/>
            <a:ext cx="2423160" cy="2560320"/>
            <a:chOff x="342207" y="2519172"/>
            <a:chExt cx="2423160" cy="2560320"/>
          </a:xfrm>
        </p:grpSpPr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BA82E9AB-DA18-37FF-FB17-D8B491D3915A}"/>
                </a:ext>
              </a:extLst>
            </p:cNvPr>
            <p:cNvSpPr/>
            <p:nvPr/>
          </p:nvSpPr>
          <p:spPr>
            <a:xfrm>
              <a:off x="342207" y="4347972"/>
              <a:ext cx="201168" cy="73152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3E2C651E-9EEC-E8D7-EEB0-7F50C226F8D1}"/>
                </a:ext>
              </a:extLst>
            </p:cNvPr>
            <p:cNvSpPr/>
            <p:nvPr/>
          </p:nvSpPr>
          <p:spPr>
            <a:xfrm>
              <a:off x="589095" y="3799332"/>
              <a:ext cx="201168" cy="128016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94B88F6D-A493-7AD5-172C-C2FFDD62CBB5}"/>
                </a:ext>
              </a:extLst>
            </p:cNvPr>
            <p:cNvSpPr/>
            <p:nvPr/>
          </p:nvSpPr>
          <p:spPr>
            <a:xfrm>
              <a:off x="835983" y="3159252"/>
              <a:ext cx="201168" cy="192024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F3E6BE69-9EAB-001A-AE81-B51AF4C9C3EE}"/>
                </a:ext>
              </a:extLst>
            </p:cNvPr>
            <p:cNvSpPr/>
            <p:nvPr/>
          </p:nvSpPr>
          <p:spPr>
            <a:xfrm>
              <a:off x="1082871" y="3525012"/>
              <a:ext cx="201168" cy="155448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2" name="Shape 40">
              <a:extLst>
                <a:ext uri="{FF2B5EF4-FFF2-40B4-BE49-F238E27FC236}">
                  <a16:creationId xmlns:a16="http://schemas.microsoft.com/office/drawing/2014/main" id="{E54CA2B7-9B93-15B9-F133-A976E14C3E87}"/>
                </a:ext>
              </a:extLst>
            </p:cNvPr>
            <p:cNvSpPr/>
            <p:nvPr/>
          </p:nvSpPr>
          <p:spPr>
            <a:xfrm>
              <a:off x="1329759" y="2519172"/>
              <a:ext cx="201168" cy="256032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3" name="Shape 41">
              <a:extLst>
                <a:ext uri="{FF2B5EF4-FFF2-40B4-BE49-F238E27FC236}">
                  <a16:creationId xmlns:a16="http://schemas.microsoft.com/office/drawing/2014/main" id="{C0D8EE2F-C78B-2D83-5104-AC782253EFCC}"/>
                </a:ext>
              </a:extLst>
            </p:cNvPr>
            <p:cNvSpPr/>
            <p:nvPr/>
          </p:nvSpPr>
          <p:spPr>
            <a:xfrm>
              <a:off x="1576647" y="3982212"/>
              <a:ext cx="201168" cy="109728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D4DA7188-0007-8968-D033-313BDE57A646}"/>
                </a:ext>
              </a:extLst>
            </p:cNvPr>
            <p:cNvSpPr/>
            <p:nvPr/>
          </p:nvSpPr>
          <p:spPr>
            <a:xfrm>
              <a:off x="1823535" y="4256532"/>
              <a:ext cx="201168" cy="82296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2D70E161-EBAD-07E9-F8F2-BFC028796274}"/>
                </a:ext>
              </a:extLst>
            </p:cNvPr>
            <p:cNvSpPr/>
            <p:nvPr/>
          </p:nvSpPr>
          <p:spPr>
            <a:xfrm>
              <a:off x="2070423" y="3707892"/>
              <a:ext cx="201168" cy="137160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247AD1AA-FDE5-05B8-6A4D-DDD1F86C9B19}"/>
                </a:ext>
              </a:extLst>
            </p:cNvPr>
            <p:cNvSpPr/>
            <p:nvPr/>
          </p:nvSpPr>
          <p:spPr>
            <a:xfrm>
              <a:off x="2317311" y="2976372"/>
              <a:ext cx="201168" cy="210312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7" name="Shape 45">
              <a:extLst>
                <a:ext uri="{FF2B5EF4-FFF2-40B4-BE49-F238E27FC236}">
                  <a16:creationId xmlns:a16="http://schemas.microsoft.com/office/drawing/2014/main" id="{FDA25275-7890-57D9-3BBC-8E407244337B}"/>
                </a:ext>
              </a:extLst>
            </p:cNvPr>
            <p:cNvSpPr/>
            <p:nvPr/>
          </p:nvSpPr>
          <p:spPr>
            <a:xfrm>
              <a:off x="2564199" y="4165092"/>
              <a:ext cx="201168" cy="91440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</p:grpSp>
      <p:sp>
        <p:nvSpPr>
          <p:cNvPr id="48" name="Shape 46">
            <a:extLst>
              <a:ext uri="{FF2B5EF4-FFF2-40B4-BE49-F238E27FC236}">
                <a16:creationId xmlns:a16="http://schemas.microsoft.com/office/drawing/2014/main" id="{9EDFDA01-C0D3-509D-9B48-26C4C3350CEF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AB5ED092-2592-457D-6154-617EB430B6DB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9A418AE4-5859-7A5B-FAE0-688E79C58451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221513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533</Words>
  <Application>Microsoft Office PowerPoint</Application>
  <PresentationFormat>Prezentácia na obrazovke (16:9)</PresentationFormat>
  <Paragraphs>108</Paragraphs>
  <Slides>13</Slides>
  <Notes>13</Notes>
  <HiddenSlides>0</HiddenSlides>
  <MMClips>0</MMClips>
  <ScaleCrop>false</ScaleCrop>
  <HeadingPairs>
    <vt:vector size="6" baseType="variant">
      <vt:variant>
        <vt:lpstr>Použité písma</vt:lpstr>
      </vt:variant>
      <vt:variant>
        <vt:i4>2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Histogramové metódy a zlepšenie kontrastu</dc:title>
  <dc:subject>PptxGenJS Presentation</dc:subject>
  <dc:creator>PVSO – Skupina D</dc:creator>
  <cp:lastModifiedBy>Martin Brandobur</cp:lastModifiedBy>
  <cp:revision>7</cp:revision>
  <dcterms:created xsi:type="dcterms:W3CDTF">2026-03-31T16:00:37Z</dcterms:created>
  <dcterms:modified xsi:type="dcterms:W3CDTF">2026-04-07T14:39:08Z</dcterms:modified>
</cp:coreProperties>
</file>