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1282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2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Manuálna</a:t>
            </a: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implementácia</a:t>
            </a: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(NumPy) vs OpenCV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Rozdiel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~1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CLAHE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pochádza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iného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spôsobu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interpolácie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dlaždíc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OpenCV (C++).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Vizuálne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nerozoznateľné</a:t>
            </a: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implementácia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pochopila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produkčný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však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mal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používať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OpenCV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C1BD-3BBE-B5E0-1131-1765888C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16D1E-3F2E-9F2D-CE9B-FD4C0CF70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F3A38-2D6A-0CA2-E176-2C4BED947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283CF-8736-C287-CA0C-08C21DD56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6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Skupina 51">
            <a:extLst>
              <a:ext uri="{FF2B5EF4-FFF2-40B4-BE49-F238E27FC236}">
                <a16:creationId xmlns:a16="http://schemas.microsoft.com/office/drawing/2014/main" id="{15A38848-31B3-D043-986E-61C268A736D6}"/>
              </a:ext>
            </a:extLst>
          </p:cNvPr>
          <p:cNvGrpSpPr/>
          <p:nvPr/>
        </p:nvGrpSpPr>
        <p:grpSpPr>
          <a:xfrm>
            <a:off x="342207" y="2522269"/>
            <a:ext cx="2423160" cy="2560320"/>
            <a:chOff x="342207" y="2548890"/>
            <a:chExt cx="2423160" cy="2560320"/>
          </a:xfrm>
        </p:grpSpPr>
        <p:sp>
          <p:nvSpPr>
            <p:cNvPr id="38" name="Shape 36"/>
            <p:cNvSpPr/>
            <p:nvPr/>
          </p:nvSpPr>
          <p:spPr>
            <a:xfrm>
              <a:off x="342207" y="4377690"/>
              <a:ext cx="201168" cy="731520"/>
            </a:xfrm>
            <a:prstGeom prst="rect">
              <a:avLst/>
            </a:prstGeom>
            <a:solidFill>
              <a:srgbClr val="0D9488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9" name="Shape 37"/>
            <p:cNvSpPr/>
            <p:nvPr/>
          </p:nvSpPr>
          <p:spPr>
            <a:xfrm>
              <a:off x="589095" y="3829050"/>
              <a:ext cx="201168" cy="1280160"/>
            </a:xfrm>
            <a:prstGeom prst="rect">
              <a:avLst/>
            </a:prstGeom>
            <a:solidFill>
              <a:srgbClr val="14B8A6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0" name="Shape 38"/>
            <p:cNvSpPr/>
            <p:nvPr/>
          </p:nvSpPr>
          <p:spPr>
            <a:xfrm>
              <a:off x="835983" y="3188970"/>
              <a:ext cx="201168" cy="1920240"/>
            </a:xfrm>
            <a:prstGeom prst="rect">
              <a:avLst/>
            </a:prstGeom>
            <a:solidFill>
              <a:srgbClr val="F59E0B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1" name="Shape 39"/>
            <p:cNvSpPr/>
            <p:nvPr/>
          </p:nvSpPr>
          <p:spPr>
            <a:xfrm>
              <a:off x="1082871" y="3554730"/>
              <a:ext cx="201168" cy="1554480"/>
            </a:xfrm>
            <a:prstGeom prst="rect">
              <a:avLst/>
            </a:prstGeom>
            <a:solidFill>
              <a:srgbClr val="0D9488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2" name="Shape 40"/>
            <p:cNvSpPr/>
            <p:nvPr/>
          </p:nvSpPr>
          <p:spPr>
            <a:xfrm>
              <a:off x="1329759" y="2548890"/>
              <a:ext cx="201168" cy="2560320"/>
            </a:xfrm>
            <a:prstGeom prst="rect">
              <a:avLst/>
            </a:prstGeom>
            <a:solidFill>
              <a:srgbClr val="14B8A6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3" name="Shape 41"/>
            <p:cNvSpPr/>
            <p:nvPr/>
          </p:nvSpPr>
          <p:spPr>
            <a:xfrm>
              <a:off x="1576647" y="4011930"/>
              <a:ext cx="201168" cy="1097280"/>
            </a:xfrm>
            <a:prstGeom prst="rect">
              <a:avLst/>
            </a:prstGeom>
            <a:solidFill>
              <a:srgbClr val="F59E0B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4" name="Shape 42"/>
            <p:cNvSpPr/>
            <p:nvPr/>
          </p:nvSpPr>
          <p:spPr>
            <a:xfrm>
              <a:off x="1823535" y="4286250"/>
              <a:ext cx="201168" cy="822960"/>
            </a:xfrm>
            <a:prstGeom prst="rect">
              <a:avLst/>
            </a:prstGeom>
            <a:solidFill>
              <a:srgbClr val="0D9488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5" name="Shape 43"/>
            <p:cNvSpPr/>
            <p:nvPr/>
          </p:nvSpPr>
          <p:spPr>
            <a:xfrm>
              <a:off x="2070423" y="3737610"/>
              <a:ext cx="201168" cy="1371600"/>
            </a:xfrm>
            <a:prstGeom prst="rect">
              <a:avLst/>
            </a:prstGeom>
            <a:solidFill>
              <a:srgbClr val="14B8A6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6" name="Shape 44"/>
            <p:cNvSpPr/>
            <p:nvPr/>
          </p:nvSpPr>
          <p:spPr>
            <a:xfrm>
              <a:off x="2317311" y="3006090"/>
              <a:ext cx="201168" cy="2103120"/>
            </a:xfrm>
            <a:prstGeom prst="rect">
              <a:avLst/>
            </a:prstGeom>
            <a:solidFill>
              <a:srgbClr val="F59E0B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7" name="Shape 45"/>
            <p:cNvSpPr/>
            <p:nvPr/>
          </p:nvSpPr>
          <p:spPr>
            <a:xfrm>
              <a:off x="2564199" y="4194810"/>
              <a:ext cx="201168" cy="914400"/>
            </a:xfrm>
            <a:prstGeom prst="rect">
              <a:avLst/>
            </a:prstGeom>
            <a:solidFill>
              <a:srgbClr val="0D9488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356429" y="9144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Histogramové metódy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zlepšenie kontrastu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6429" y="3595393"/>
            <a:ext cx="5029200" cy="1191491"/>
          </a:xfrm>
          <a:prstGeom prst="rect">
            <a:avLst/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356429" y="3657599"/>
            <a:ext cx="5120640" cy="1191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k-SK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Autori: 		Dominik Kupec a Martin Brandobur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k-SK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Študijný program: 	robotika a kybernetika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k-SK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Študijný odbor: 	kybernetika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k-SK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Predmet: 		počítačové videnie a spracovanie obrazu</a:t>
            </a:r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7040880" y="73152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7498080" y="73152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7955280" y="73152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Shape 10"/>
          <p:cNvSpPr/>
          <p:nvPr/>
        </p:nvSpPr>
        <p:spPr>
          <a:xfrm>
            <a:off x="8412480" y="73152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Shape 11"/>
          <p:cNvSpPr/>
          <p:nvPr/>
        </p:nvSpPr>
        <p:spPr>
          <a:xfrm>
            <a:off x="6583680" y="137160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7040880" y="137160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Shape 13"/>
          <p:cNvSpPr/>
          <p:nvPr/>
        </p:nvSpPr>
        <p:spPr>
          <a:xfrm>
            <a:off x="7498080" y="137160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/>
          <p:cNvSpPr/>
          <p:nvPr/>
        </p:nvSpPr>
        <p:spPr>
          <a:xfrm>
            <a:off x="7955280" y="137160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8412480" y="137160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6583680" y="201168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7040880" y="201168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7498080" y="201168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/>
          <p:cNvSpPr/>
          <p:nvPr/>
        </p:nvSpPr>
        <p:spPr>
          <a:xfrm>
            <a:off x="7955280" y="201168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Shape 20"/>
          <p:cNvSpPr/>
          <p:nvPr/>
        </p:nvSpPr>
        <p:spPr>
          <a:xfrm>
            <a:off x="8412480" y="201168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Shape 21"/>
          <p:cNvSpPr/>
          <p:nvPr/>
        </p:nvSpPr>
        <p:spPr>
          <a:xfrm>
            <a:off x="6583680" y="265176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Shape 22"/>
          <p:cNvSpPr/>
          <p:nvPr/>
        </p:nvSpPr>
        <p:spPr>
          <a:xfrm>
            <a:off x="7040880" y="265176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3"/>
          <p:cNvSpPr/>
          <p:nvPr/>
        </p:nvSpPr>
        <p:spPr>
          <a:xfrm>
            <a:off x="7498080" y="265176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/>
          <p:cNvSpPr/>
          <p:nvPr/>
        </p:nvSpPr>
        <p:spPr>
          <a:xfrm>
            <a:off x="7955280" y="265176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Shape 25"/>
          <p:cNvSpPr/>
          <p:nvPr/>
        </p:nvSpPr>
        <p:spPr>
          <a:xfrm>
            <a:off x="8412480" y="265176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6"/>
          <p:cNvSpPr/>
          <p:nvPr/>
        </p:nvSpPr>
        <p:spPr>
          <a:xfrm>
            <a:off x="6583680" y="329184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7040880" y="329184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Shape 28"/>
          <p:cNvSpPr/>
          <p:nvPr/>
        </p:nvSpPr>
        <p:spPr>
          <a:xfrm>
            <a:off x="7498080" y="329184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Shape 29"/>
          <p:cNvSpPr/>
          <p:nvPr/>
        </p:nvSpPr>
        <p:spPr>
          <a:xfrm>
            <a:off x="7955280" y="329184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2" name="Shape 30"/>
          <p:cNvSpPr/>
          <p:nvPr/>
        </p:nvSpPr>
        <p:spPr>
          <a:xfrm>
            <a:off x="8412480" y="329184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3" name="Shape 31"/>
          <p:cNvSpPr/>
          <p:nvPr/>
        </p:nvSpPr>
        <p:spPr>
          <a:xfrm>
            <a:off x="6583680" y="393192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4" name="Shape 32"/>
          <p:cNvSpPr/>
          <p:nvPr/>
        </p:nvSpPr>
        <p:spPr>
          <a:xfrm>
            <a:off x="7040880" y="393192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3"/>
          <p:cNvSpPr/>
          <p:nvPr/>
        </p:nvSpPr>
        <p:spPr>
          <a:xfrm>
            <a:off x="7498080" y="393192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6" name="Shape 34"/>
          <p:cNvSpPr/>
          <p:nvPr/>
        </p:nvSpPr>
        <p:spPr>
          <a:xfrm>
            <a:off x="7955280" y="393192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7" name="Shape 35"/>
          <p:cNvSpPr/>
          <p:nvPr/>
        </p:nvSpPr>
        <p:spPr>
          <a:xfrm>
            <a:off x="8412480" y="393192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8" name="Shape 4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80E00163-380B-8713-6FC0-6D3169C70A99}"/>
              </a:ext>
            </a:extLst>
          </p:cNvPr>
          <p:cNvSpPr/>
          <p:nvPr/>
        </p:nvSpPr>
        <p:spPr>
          <a:xfrm rot="5400000">
            <a:off x="-2535867" y="2539746"/>
            <a:ext cx="51435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r"/>
            <a:endParaRPr lang="sk-SK" dirty="0"/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58EFC75E-D161-998E-7C12-122B9D533688}"/>
              </a:ext>
            </a:extLst>
          </p:cNvPr>
          <p:cNvSpPr/>
          <p:nvPr/>
        </p:nvSpPr>
        <p:spPr>
          <a:xfrm rot="5400000">
            <a:off x="6531102" y="2532922"/>
            <a:ext cx="51435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r"/>
            <a:endParaRPr lang="sk-SK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Cieľ zadania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9144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Histogramy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Výpočet histogramov pre každý farebný kanál (R, G, B) zvlášť + fitovanie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Gaussovej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krivky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9144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/>
          <p:nvPr/>
        </p:nvSpPr>
        <p:spPr>
          <a:xfrm>
            <a:off x="4937760" y="932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Ekvalizácia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Klasická HE – vyrovnanie histogramu pre jednokanálový obraz cez LUT z kumulatívnej distribúcie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9144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/>
          <p:nvPr/>
        </p:nvSpPr>
        <p:spPr>
          <a:xfrm>
            <a:off x="45720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Farebná Ekvalizácia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Ekvalizácia cez priestor YCrCb – upravuje len kanál jasu (Y), zachováva farebnosť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9144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Text 17"/>
          <p:cNvSpPr/>
          <p:nvPr/>
        </p:nvSpPr>
        <p:spPr>
          <a:xfrm>
            <a:off x="493776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Adaptívna HE s obmedzením kontrastu: mriežka 8×8 dlaždíc, clip limit 2.0, bilineárna interpolácia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sa používa IBA na načítanie / zobrazenie obrazu a konverziu farebných priestorov — všetky výpočty sú implementované manuálne v NumPy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Histogramy – každý kanál samostatne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77240"/>
            <a:ext cx="85039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Manuálne cez np.bincount  ·  μ a σ z Gaussovho fitu  ·  Presná zhoda s OpenCV (diff = 0)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– Histogramová ekvalizácia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77240"/>
            <a:ext cx="85039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553712"/>
            <a:ext cx="2286000" cy="5897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5"/>
          <p:cNvSpPr/>
          <p:nvPr/>
        </p:nvSpPr>
        <p:spPr>
          <a:xfrm>
            <a:off x="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Metóda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 → LUT → remap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86000" y="4553712"/>
            <a:ext cx="2286000" cy="58978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Text 7"/>
          <p:cNvSpPr/>
          <p:nvPr/>
        </p:nvSpPr>
        <p:spPr>
          <a:xfrm>
            <a:off x="2286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= 0.00 px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553712"/>
            <a:ext cx="2286000" cy="5897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9"/>
          <p:cNvSpPr/>
          <p:nvPr/>
        </p:nvSpPr>
        <p:spPr>
          <a:xfrm>
            <a:off x="4572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
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cv2.equalizeHist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0" y="4553712"/>
            <a:ext cx="2286000" cy="58978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1"/>
          <p:cNvSpPr/>
          <p:nvPr/>
        </p:nvSpPr>
        <p:spPr>
          <a:xfrm>
            <a:off x="6858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Rýchlosť
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4–6× pomalší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Farebná ekvalizácia  (YCrCb priestor)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4"/>
          <p:cNvSpPr/>
          <p:nvPr/>
        </p:nvSpPr>
        <p:spPr>
          <a:xfrm>
            <a:off x="0" y="4553712"/>
            <a:ext cx="2286000" cy="5897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5"/>
          <p:cNvSpPr/>
          <p:nvPr/>
        </p:nvSpPr>
        <p:spPr>
          <a:xfrm>
            <a:off x="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Priestor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YCrCb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86000" y="4553712"/>
            <a:ext cx="2286000" cy="58978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Text 7"/>
          <p:cNvSpPr/>
          <p:nvPr/>
        </p:nvSpPr>
        <p:spPr>
          <a:xfrm>
            <a:off x="2286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Ekvalizácia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Y kanál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553712"/>
            <a:ext cx="2286000" cy="5897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9"/>
          <p:cNvSpPr/>
          <p:nvPr/>
        </p:nvSpPr>
        <p:spPr>
          <a:xfrm>
            <a:off x="4572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
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= 0.00 px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0" y="4553712"/>
            <a:ext cx="2286000" cy="58978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1"/>
          <p:cNvSpPr/>
          <p:nvPr/>
        </p:nvSpPr>
        <p:spPr>
          <a:xfrm>
            <a:off x="6858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Farba
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zachovaná</a:t>
            </a:r>
            <a:endParaRPr lang="en-US" sz="800" dirty="0"/>
          </a:p>
        </p:txBody>
      </p:sp>
      <p:pic>
        <p:nvPicPr>
          <p:cNvPr id="18" name="Obrázok 17">
            <a:extLst>
              <a:ext uri="{FF2B5EF4-FFF2-40B4-BE49-F238E27FC236}">
                <a16:creationId xmlns:a16="http://schemas.microsoft.com/office/drawing/2014/main" id="{82136F55-5A46-4B0A-B14B-3F3426E1F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0" y="749406"/>
            <a:ext cx="6525009" cy="3728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 (Contrast Limited Adaptive HE)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7" name="Shape 4"/>
          <p:cNvSpPr/>
          <p:nvPr/>
        </p:nvSpPr>
        <p:spPr>
          <a:xfrm>
            <a:off x="0" y="4553712"/>
            <a:ext cx="2286000" cy="5897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5"/>
          <p:cNvSpPr/>
          <p:nvPr/>
        </p:nvSpPr>
        <p:spPr>
          <a:xfrm>
            <a:off x="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Mriežka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8 dlaždíc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86000" y="4553712"/>
            <a:ext cx="2286000" cy="58978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Text 7"/>
          <p:cNvSpPr/>
          <p:nvPr/>
        </p:nvSpPr>
        <p:spPr>
          <a:xfrm>
            <a:off x="2286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limit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553712"/>
            <a:ext cx="2286000" cy="58978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9"/>
          <p:cNvSpPr/>
          <p:nvPr/>
        </p:nvSpPr>
        <p:spPr>
          <a:xfrm>
            <a:off x="4572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Interpolácia
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bilineárna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58000" y="4553712"/>
            <a:ext cx="2286000" cy="58978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1"/>
          <p:cNvSpPr/>
          <p:nvPr/>
        </p:nvSpPr>
        <p:spPr>
          <a:xfrm>
            <a:off x="6858000" y="4553712"/>
            <a:ext cx="22860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
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≈ 1.0 px</a:t>
            </a:r>
            <a:endParaRPr lang="en-US" sz="800" dirty="0"/>
          </a:p>
        </p:txBody>
      </p:sp>
      <p:pic>
        <p:nvPicPr>
          <p:cNvPr id="18" name="Obrázok 17">
            <a:extLst>
              <a:ext uri="{FF2B5EF4-FFF2-40B4-BE49-F238E27FC236}">
                <a16:creationId xmlns:a16="http://schemas.microsoft.com/office/drawing/2014/main" id="{DC2140FA-965C-9514-F66D-54CB7FA36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" y="744854"/>
            <a:ext cx="7471410" cy="3735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Porovnanie: Manuálna implementácia vs OpenCV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3152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PRESNOSŤ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22604"/>
              </p:ext>
            </p:extLst>
          </p:nvPr>
        </p:nvGraphicFramePr>
        <p:xfrm>
          <a:off x="274320" y="1837944"/>
          <a:ext cx="402336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Metóda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|diff|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Hodnotenie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(gray)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Ekvalizácia (gray)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Farebná ekvalizácia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 (gray)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1.0 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5"/>
          <p:cNvSpPr/>
          <p:nvPr/>
        </p:nvSpPr>
        <p:spPr>
          <a:xfrm>
            <a:off x="365760" y="3200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273040" y="777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VÝPOČTOVÁ </a:t>
            </a:r>
            <a:r>
              <a:rPr lang="sk-SK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NÁROČNOSŤ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1234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Ekvalizácia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06440" y="1307592"/>
            <a:ext cx="28346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Shape 9"/>
          <p:cNvSpPr/>
          <p:nvPr/>
        </p:nvSpPr>
        <p:spPr>
          <a:xfrm>
            <a:off x="5806440" y="1307592"/>
            <a:ext cx="258897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Text 10"/>
          <p:cNvSpPr/>
          <p:nvPr/>
        </p:nvSpPr>
        <p:spPr>
          <a:xfrm>
            <a:off x="6111057" y="1307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</a:t>
            </a: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Ekvalizácia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806440" y="2039112"/>
            <a:ext cx="28346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3"/>
          <p:cNvSpPr/>
          <p:nvPr/>
        </p:nvSpPr>
        <p:spPr>
          <a:xfrm>
            <a:off x="5806440" y="2039112"/>
            <a:ext cx="457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Text 14"/>
          <p:cNvSpPr/>
          <p:nvPr/>
        </p:nvSpPr>
        <p:spPr>
          <a:xfrm>
            <a:off x="5897880" y="2039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r>
              <a:rPr lang="sk-SK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06440" y="2770632"/>
            <a:ext cx="28346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7"/>
          <p:cNvSpPr/>
          <p:nvPr/>
        </p:nvSpPr>
        <p:spPr>
          <a:xfrm>
            <a:off x="5806440" y="2770632"/>
            <a:ext cx="2834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Text 18"/>
          <p:cNvSpPr/>
          <p:nvPr/>
        </p:nvSpPr>
        <p:spPr>
          <a:xfrm>
            <a:off x="8686800" y="2770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06440" y="3502152"/>
            <a:ext cx="28346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Shape 21"/>
          <p:cNvSpPr/>
          <p:nvPr/>
        </p:nvSpPr>
        <p:spPr>
          <a:xfrm>
            <a:off x="5806440" y="3502152"/>
            <a:ext cx="46299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Text 22"/>
          <p:cNvSpPr/>
          <p:nvPr/>
        </p:nvSpPr>
        <p:spPr>
          <a:xfrm>
            <a:off x="5898459" y="35021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 ms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06438" y="4080510"/>
            <a:ext cx="1417503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27" name="Text 24"/>
          <p:cNvSpPr/>
          <p:nvPr/>
        </p:nvSpPr>
        <p:spPr>
          <a:xfrm>
            <a:off x="5806439" y="4088130"/>
            <a:ext cx="140189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sk-SK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Ekvalizácia spomaľ.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223577" y="4080510"/>
            <a:ext cx="1417503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sk-SK" dirty="0"/>
          </a:p>
        </p:txBody>
      </p:sp>
      <p:sp>
        <p:nvSpPr>
          <p:cNvPr id="29" name="Text 26"/>
          <p:cNvSpPr/>
          <p:nvPr/>
        </p:nvSpPr>
        <p:spPr>
          <a:xfrm>
            <a:off x="7231562" y="4088130"/>
            <a:ext cx="14018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</a:t>
            </a:r>
            <a:r>
              <a:rPr lang="sk-SK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spomaľ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4913376"/>
            <a:ext cx="9144000" cy="23774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Text 28"/>
          <p:cNvSpPr/>
          <p:nvPr/>
        </p:nvSpPr>
        <p:spPr>
          <a:xfrm>
            <a:off x="274320" y="4919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Manuálna CLAHE je pomalšia kvôli Python-level slučkám nad dlaždicami — OpenCV je implementovaná v C++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Manuálny histogram (NumPy bincount) je bitovo identický s OpenCV – diferencia = 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658368"/>
          </a:xfrm>
          <a:prstGeom prst="rect">
            <a:avLst/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Histogramová ekvalizácia dáva rovnaký výsledok (diff 0.00 px) – zaokrúhľovanie v LUT je zanedbateľné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78024"/>
            <a:ext cx="8412480" cy="658368"/>
          </a:xfrm>
          <a:prstGeom prst="rect">
            <a:avLst/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/>
          <p:nvPr/>
        </p:nvSpPr>
        <p:spPr>
          <a:xfrm>
            <a:off x="502920" y="247802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CLAHE sa líši o ~1 px kvôli rozdielnej interpolácii hraničných dlaždíc v C++ vs Python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36976"/>
            <a:ext cx="8412480" cy="658368"/>
          </a:xfrm>
          <a:prstGeom prst="rect">
            <a:avLst/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OpenCV je ~</a:t>
            </a:r>
            <a:r>
              <a:rPr lang="sk-SK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rýchlejšia pri ekvalizácii a až ~6</a:t>
            </a:r>
            <a:r>
              <a:rPr lang="sk-SK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pri CLAHE vďaka natívnej C++ implementácii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995928"/>
            <a:ext cx="8412480" cy="658368"/>
          </a:xfrm>
          <a:prstGeom prst="rect">
            <a:avLst/>
          </a:prstGeom>
          <a:solidFill>
            <a:srgbClr val="1A326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/>
          <p:nvPr/>
        </p:nvSpPr>
        <p:spPr>
          <a:xfrm>
            <a:off x="502920" y="399592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</a:t>
            </a:r>
            <a:r>
              <a:rPr lang="sk-SK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považujeme za splnené</a:t>
            </a:r>
            <a:endParaRPr lang="en-US" sz="12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ADE8DCF2-F151-7195-E9B2-E6F64647CFE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46">
            <a:extLst>
              <a:ext uri="{FF2B5EF4-FFF2-40B4-BE49-F238E27FC236}">
                <a16:creationId xmlns:a16="http://schemas.microsoft.com/office/drawing/2014/main" id="{9964E6E0-5A28-077E-0C11-09BF3D0713E3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5E3EDCEB-5488-3DE9-3375-7E357995B9B9}"/>
              </a:ext>
            </a:extLst>
          </p:cNvPr>
          <p:cNvSpPr/>
          <p:nvPr/>
        </p:nvSpPr>
        <p:spPr>
          <a:xfrm rot="5400000">
            <a:off x="-2535867" y="2539746"/>
            <a:ext cx="51435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r"/>
            <a:endParaRPr lang="sk-SK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52665BEB-9AAC-902D-CC89-3396D38A0BC5}"/>
              </a:ext>
            </a:extLst>
          </p:cNvPr>
          <p:cNvSpPr/>
          <p:nvPr/>
        </p:nvSpPr>
        <p:spPr>
          <a:xfrm rot="5400000">
            <a:off x="6531102" y="2532922"/>
            <a:ext cx="51435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r"/>
            <a:endParaRPr lang="sk-SK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67A69A-AD66-6AED-0FCD-CEC65E7B4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E977C3-F903-6036-BBAD-D6D206EDEEE5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5EC658-D98A-53DE-1B8A-10FFE6067407}"/>
              </a:ext>
            </a:extLst>
          </p:cNvPr>
          <p:cNvSpPr/>
          <p:nvPr/>
        </p:nvSpPr>
        <p:spPr>
          <a:xfrm>
            <a:off x="356429" y="9144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sk-SK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Ďakujeme za pozornosť</a:t>
            </a:r>
            <a:endParaRPr lang="en-US" sz="3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3EB00CF-AF82-F0F2-F534-2E660773B4CE}"/>
              </a:ext>
            </a:extLst>
          </p:cNvPr>
          <p:cNvSpPr/>
          <p:nvPr/>
        </p:nvSpPr>
        <p:spPr>
          <a:xfrm>
            <a:off x="6583680" y="73152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FD6E7F2-AE34-4151-AF6B-5FDBD970FDB3}"/>
              </a:ext>
            </a:extLst>
          </p:cNvPr>
          <p:cNvSpPr/>
          <p:nvPr/>
        </p:nvSpPr>
        <p:spPr>
          <a:xfrm>
            <a:off x="7040880" y="73152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36B7F7D-D2CB-6CB3-3602-709EC00B668D}"/>
              </a:ext>
            </a:extLst>
          </p:cNvPr>
          <p:cNvSpPr/>
          <p:nvPr/>
        </p:nvSpPr>
        <p:spPr>
          <a:xfrm>
            <a:off x="7498080" y="73152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874987D-1C17-F2EC-B75F-6B5E1DCEE52C}"/>
              </a:ext>
            </a:extLst>
          </p:cNvPr>
          <p:cNvSpPr/>
          <p:nvPr/>
        </p:nvSpPr>
        <p:spPr>
          <a:xfrm>
            <a:off x="7955280" y="73152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260AD6E-31B6-E3D1-B141-8FA06BFCBD4B}"/>
              </a:ext>
            </a:extLst>
          </p:cNvPr>
          <p:cNvSpPr/>
          <p:nvPr/>
        </p:nvSpPr>
        <p:spPr>
          <a:xfrm>
            <a:off x="8412480" y="73152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A4616A5-6EF5-A102-E67C-0DF7DCB14BDA}"/>
              </a:ext>
            </a:extLst>
          </p:cNvPr>
          <p:cNvSpPr/>
          <p:nvPr/>
        </p:nvSpPr>
        <p:spPr>
          <a:xfrm>
            <a:off x="6583680" y="137160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B305609-426C-FD78-E242-563F289A8212}"/>
              </a:ext>
            </a:extLst>
          </p:cNvPr>
          <p:cNvSpPr/>
          <p:nvPr/>
        </p:nvSpPr>
        <p:spPr>
          <a:xfrm>
            <a:off x="7040880" y="137160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2B66769-66D0-048D-ED35-B83D5FB0843F}"/>
              </a:ext>
            </a:extLst>
          </p:cNvPr>
          <p:cNvSpPr/>
          <p:nvPr/>
        </p:nvSpPr>
        <p:spPr>
          <a:xfrm>
            <a:off x="7498080" y="137160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E906219-5066-05E8-407A-F95E19517855}"/>
              </a:ext>
            </a:extLst>
          </p:cNvPr>
          <p:cNvSpPr/>
          <p:nvPr/>
        </p:nvSpPr>
        <p:spPr>
          <a:xfrm>
            <a:off x="7955280" y="137160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53DFFFE-4796-CAF5-3BC3-9FBD0C79E6AD}"/>
              </a:ext>
            </a:extLst>
          </p:cNvPr>
          <p:cNvSpPr/>
          <p:nvPr/>
        </p:nvSpPr>
        <p:spPr>
          <a:xfrm>
            <a:off x="8412480" y="137160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F5DB196-71AC-81BC-6C22-AD5C1D298942}"/>
              </a:ext>
            </a:extLst>
          </p:cNvPr>
          <p:cNvSpPr/>
          <p:nvPr/>
        </p:nvSpPr>
        <p:spPr>
          <a:xfrm>
            <a:off x="6583680" y="201168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F3ACDD5-7736-D3CE-7F4C-4767B40B6C2A}"/>
              </a:ext>
            </a:extLst>
          </p:cNvPr>
          <p:cNvSpPr/>
          <p:nvPr/>
        </p:nvSpPr>
        <p:spPr>
          <a:xfrm>
            <a:off x="7040880" y="201168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D97A2DA-05C7-C78B-F729-2B34D8130209}"/>
              </a:ext>
            </a:extLst>
          </p:cNvPr>
          <p:cNvSpPr/>
          <p:nvPr/>
        </p:nvSpPr>
        <p:spPr>
          <a:xfrm>
            <a:off x="7498080" y="201168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3440DE3-DACA-1F6E-4B47-BFAFF73F57E1}"/>
              </a:ext>
            </a:extLst>
          </p:cNvPr>
          <p:cNvSpPr/>
          <p:nvPr/>
        </p:nvSpPr>
        <p:spPr>
          <a:xfrm>
            <a:off x="7955280" y="201168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F5E5684-5235-C7C4-59C7-99599EEEBD88}"/>
              </a:ext>
            </a:extLst>
          </p:cNvPr>
          <p:cNvSpPr/>
          <p:nvPr/>
        </p:nvSpPr>
        <p:spPr>
          <a:xfrm>
            <a:off x="8412480" y="201168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27A2634-490A-0313-1525-05A37E69AB06}"/>
              </a:ext>
            </a:extLst>
          </p:cNvPr>
          <p:cNvSpPr/>
          <p:nvPr/>
        </p:nvSpPr>
        <p:spPr>
          <a:xfrm>
            <a:off x="6583680" y="265176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1666C0A-FFC6-E295-7228-93B33FA9FE2B}"/>
              </a:ext>
            </a:extLst>
          </p:cNvPr>
          <p:cNvSpPr/>
          <p:nvPr/>
        </p:nvSpPr>
        <p:spPr>
          <a:xfrm>
            <a:off x="7040880" y="265176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E50C836-C453-7C7A-4F4B-44ADBA9332EC}"/>
              </a:ext>
            </a:extLst>
          </p:cNvPr>
          <p:cNvSpPr/>
          <p:nvPr/>
        </p:nvSpPr>
        <p:spPr>
          <a:xfrm>
            <a:off x="7498080" y="265176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373F157-79A6-1D1A-62B7-CB5C0188CA90}"/>
              </a:ext>
            </a:extLst>
          </p:cNvPr>
          <p:cNvSpPr/>
          <p:nvPr/>
        </p:nvSpPr>
        <p:spPr>
          <a:xfrm>
            <a:off x="7955280" y="265176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97C55F0-39D4-3248-46A0-3A85C57A8DCF}"/>
              </a:ext>
            </a:extLst>
          </p:cNvPr>
          <p:cNvSpPr/>
          <p:nvPr/>
        </p:nvSpPr>
        <p:spPr>
          <a:xfrm>
            <a:off x="8412480" y="265176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AF05362-D951-E524-EC1E-3C1E09B70D49}"/>
              </a:ext>
            </a:extLst>
          </p:cNvPr>
          <p:cNvSpPr/>
          <p:nvPr/>
        </p:nvSpPr>
        <p:spPr>
          <a:xfrm>
            <a:off x="6583680" y="329184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F5D0CCA-5FE7-75D0-A4C9-34FABF6303B2}"/>
              </a:ext>
            </a:extLst>
          </p:cNvPr>
          <p:cNvSpPr/>
          <p:nvPr/>
        </p:nvSpPr>
        <p:spPr>
          <a:xfrm>
            <a:off x="7040880" y="329184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555A7E7-0755-306F-9DDB-59DCBBDBA621}"/>
              </a:ext>
            </a:extLst>
          </p:cNvPr>
          <p:cNvSpPr/>
          <p:nvPr/>
        </p:nvSpPr>
        <p:spPr>
          <a:xfrm>
            <a:off x="7498080" y="329184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6FA9F2B-EA9B-555D-116E-D0BA17A12E1A}"/>
              </a:ext>
            </a:extLst>
          </p:cNvPr>
          <p:cNvSpPr/>
          <p:nvPr/>
        </p:nvSpPr>
        <p:spPr>
          <a:xfrm>
            <a:off x="7955280" y="329184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853BB65-09D5-8A39-A3FA-B1BC825DC4EB}"/>
              </a:ext>
            </a:extLst>
          </p:cNvPr>
          <p:cNvSpPr/>
          <p:nvPr/>
        </p:nvSpPr>
        <p:spPr>
          <a:xfrm>
            <a:off x="8412480" y="329184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075691B-AC29-F6E6-EC01-DA5BB7A4CABB}"/>
              </a:ext>
            </a:extLst>
          </p:cNvPr>
          <p:cNvSpPr/>
          <p:nvPr/>
        </p:nvSpPr>
        <p:spPr>
          <a:xfrm>
            <a:off x="6583680" y="3931920"/>
            <a:ext cx="38404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1E585DE-84EE-E627-A150-B974195920F8}"/>
              </a:ext>
            </a:extLst>
          </p:cNvPr>
          <p:cNvSpPr/>
          <p:nvPr/>
        </p:nvSpPr>
        <p:spPr>
          <a:xfrm>
            <a:off x="7040880" y="3931920"/>
            <a:ext cx="384048" cy="56692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A7D903D-FE39-24DE-8854-0A94BCA11560}"/>
              </a:ext>
            </a:extLst>
          </p:cNvPr>
          <p:cNvSpPr/>
          <p:nvPr/>
        </p:nvSpPr>
        <p:spPr>
          <a:xfrm>
            <a:off x="7498080" y="393192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A7849B3-8E95-DE0D-4FF0-29EA3D2B7A84}"/>
              </a:ext>
            </a:extLst>
          </p:cNvPr>
          <p:cNvSpPr/>
          <p:nvPr/>
        </p:nvSpPr>
        <p:spPr>
          <a:xfrm>
            <a:off x="7955280" y="3931920"/>
            <a:ext cx="384048" cy="566928"/>
          </a:xfrm>
          <a:prstGeom prst="rect">
            <a:avLst/>
          </a:prstGeom>
          <a:solidFill>
            <a:srgbClr val="1A3260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D05DFE1-F207-4E16-F90F-737FC491D674}"/>
              </a:ext>
            </a:extLst>
          </p:cNvPr>
          <p:cNvSpPr/>
          <p:nvPr/>
        </p:nvSpPr>
        <p:spPr>
          <a:xfrm>
            <a:off x="8412480" y="3931920"/>
            <a:ext cx="38404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grpSp>
        <p:nvGrpSpPr>
          <p:cNvPr id="49" name="Skupina 48">
            <a:extLst>
              <a:ext uri="{FF2B5EF4-FFF2-40B4-BE49-F238E27FC236}">
                <a16:creationId xmlns:a16="http://schemas.microsoft.com/office/drawing/2014/main" id="{02229EBE-6693-3E35-1263-65294209A956}"/>
              </a:ext>
            </a:extLst>
          </p:cNvPr>
          <p:cNvGrpSpPr/>
          <p:nvPr/>
        </p:nvGrpSpPr>
        <p:grpSpPr>
          <a:xfrm>
            <a:off x="342207" y="2519172"/>
            <a:ext cx="2423160" cy="2560320"/>
            <a:chOff x="342207" y="2519172"/>
            <a:chExt cx="2423160" cy="2560320"/>
          </a:xfrm>
        </p:grpSpPr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BA82E9AB-DA18-37FF-FB17-D8B491D3915A}"/>
                </a:ext>
              </a:extLst>
            </p:cNvPr>
            <p:cNvSpPr/>
            <p:nvPr/>
          </p:nvSpPr>
          <p:spPr>
            <a:xfrm>
              <a:off x="342207" y="4347972"/>
              <a:ext cx="201168" cy="731520"/>
            </a:xfrm>
            <a:prstGeom prst="rect">
              <a:avLst/>
            </a:prstGeom>
            <a:solidFill>
              <a:srgbClr val="0D9488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3E2C651E-9EEC-E8D7-EEB0-7F50C226F8D1}"/>
                </a:ext>
              </a:extLst>
            </p:cNvPr>
            <p:cNvSpPr/>
            <p:nvPr/>
          </p:nvSpPr>
          <p:spPr>
            <a:xfrm>
              <a:off x="589095" y="3799332"/>
              <a:ext cx="201168" cy="1280160"/>
            </a:xfrm>
            <a:prstGeom prst="rect">
              <a:avLst/>
            </a:prstGeom>
            <a:solidFill>
              <a:srgbClr val="14B8A6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94B88F6D-A493-7AD5-172C-C2FFDD62CBB5}"/>
                </a:ext>
              </a:extLst>
            </p:cNvPr>
            <p:cNvSpPr/>
            <p:nvPr/>
          </p:nvSpPr>
          <p:spPr>
            <a:xfrm>
              <a:off x="835983" y="3159252"/>
              <a:ext cx="201168" cy="1920240"/>
            </a:xfrm>
            <a:prstGeom prst="rect">
              <a:avLst/>
            </a:prstGeom>
            <a:solidFill>
              <a:srgbClr val="F59E0B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F3E6BE69-9EAB-001A-AE81-B51AF4C9C3EE}"/>
                </a:ext>
              </a:extLst>
            </p:cNvPr>
            <p:cNvSpPr/>
            <p:nvPr/>
          </p:nvSpPr>
          <p:spPr>
            <a:xfrm>
              <a:off x="1082871" y="3525012"/>
              <a:ext cx="201168" cy="1554480"/>
            </a:xfrm>
            <a:prstGeom prst="rect">
              <a:avLst/>
            </a:prstGeom>
            <a:solidFill>
              <a:srgbClr val="0D9488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E54CA2B7-9B93-15B9-F133-A976E14C3E87}"/>
                </a:ext>
              </a:extLst>
            </p:cNvPr>
            <p:cNvSpPr/>
            <p:nvPr/>
          </p:nvSpPr>
          <p:spPr>
            <a:xfrm>
              <a:off x="1329759" y="2519172"/>
              <a:ext cx="201168" cy="2560320"/>
            </a:xfrm>
            <a:prstGeom prst="rect">
              <a:avLst/>
            </a:prstGeom>
            <a:solidFill>
              <a:srgbClr val="14B8A6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C0D8EE2F-C78B-2D83-5104-AC782253EFCC}"/>
                </a:ext>
              </a:extLst>
            </p:cNvPr>
            <p:cNvSpPr/>
            <p:nvPr/>
          </p:nvSpPr>
          <p:spPr>
            <a:xfrm>
              <a:off x="1576647" y="3982212"/>
              <a:ext cx="201168" cy="1097280"/>
            </a:xfrm>
            <a:prstGeom prst="rect">
              <a:avLst/>
            </a:prstGeom>
            <a:solidFill>
              <a:srgbClr val="F59E0B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D4DA7188-0007-8968-D033-313BDE57A646}"/>
                </a:ext>
              </a:extLst>
            </p:cNvPr>
            <p:cNvSpPr/>
            <p:nvPr/>
          </p:nvSpPr>
          <p:spPr>
            <a:xfrm>
              <a:off x="1823535" y="4256532"/>
              <a:ext cx="201168" cy="822960"/>
            </a:xfrm>
            <a:prstGeom prst="rect">
              <a:avLst/>
            </a:prstGeom>
            <a:solidFill>
              <a:srgbClr val="0D9488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2D70E161-EBAD-07E9-F8F2-BFC028796274}"/>
                </a:ext>
              </a:extLst>
            </p:cNvPr>
            <p:cNvSpPr/>
            <p:nvPr/>
          </p:nvSpPr>
          <p:spPr>
            <a:xfrm>
              <a:off x="2070423" y="3707892"/>
              <a:ext cx="201168" cy="1371600"/>
            </a:xfrm>
            <a:prstGeom prst="rect">
              <a:avLst/>
            </a:prstGeom>
            <a:solidFill>
              <a:srgbClr val="14B8A6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247AD1AA-FDE5-05B8-6A4D-DDD1F86C9B19}"/>
                </a:ext>
              </a:extLst>
            </p:cNvPr>
            <p:cNvSpPr/>
            <p:nvPr/>
          </p:nvSpPr>
          <p:spPr>
            <a:xfrm>
              <a:off x="2317311" y="2976372"/>
              <a:ext cx="201168" cy="2103120"/>
            </a:xfrm>
            <a:prstGeom prst="rect">
              <a:avLst/>
            </a:prstGeom>
            <a:solidFill>
              <a:srgbClr val="F59E0B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FDA25275-7890-57D9-3BBC-8E407244337B}"/>
                </a:ext>
              </a:extLst>
            </p:cNvPr>
            <p:cNvSpPr/>
            <p:nvPr/>
          </p:nvSpPr>
          <p:spPr>
            <a:xfrm>
              <a:off x="2564199" y="4165092"/>
              <a:ext cx="201168" cy="914400"/>
            </a:xfrm>
            <a:prstGeom prst="rect">
              <a:avLst/>
            </a:prstGeom>
            <a:solidFill>
              <a:srgbClr val="0D9488">
                <a:alpha val="80000"/>
              </a:srgbClr>
            </a:solidFill>
            <a:ln w="12700">
              <a:solidFill>
                <a:srgbClr val="0F1F3D"/>
              </a:solidFill>
              <a:prstDash val="solid"/>
            </a:ln>
          </p:spPr>
          <p:txBody>
            <a:bodyPr/>
            <a:lstStyle/>
            <a:p>
              <a:endParaRPr lang="sk-SK"/>
            </a:p>
          </p:txBody>
        </p:sp>
      </p:grpSp>
      <p:sp>
        <p:nvSpPr>
          <p:cNvPr id="48" name="Shape 46">
            <a:extLst>
              <a:ext uri="{FF2B5EF4-FFF2-40B4-BE49-F238E27FC236}">
                <a16:creationId xmlns:a16="http://schemas.microsoft.com/office/drawing/2014/main" id="{9EDFDA01-C0D3-509D-9B48-26C4C3350CEF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AB5ED092-2592-457D-6154-617EB430B6DB}"/>
              </a:ext>
            </a:extLst>
          </p:cNvPr>
          <p:cNvSpPr/>
          <p:nvPr/>
        </p:nvSpPr>
        <p:spPr>
          <a:xfrm rot="5400000">
            <a:off x="-2535867" y="2539746"/>
            <a:ext cx="51435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r"/>
            <a:endParaRPr lang="sk-SK" dirty="0"/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9A418AE4-5859-7A5B-FAE0-688E79C58451}"/>
              </a:ext>
            </a:extLst>
          </p:cNvPr>
          <p:cNvSpPr/>
          <p:nvPr/>
        </p:nvSpPr>
        <p:spPr>
          <a:xfrm rot="5400000">
            <a:off x="6531102" y="2532922"/>
            <a:ext cx="51435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r"/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221513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455</Words>
  <Application>Microsoft Office PowerPoint</Application>
  <PresentationFormat>Prezentácia na obrazovke (16:9)</PresentationFormat>
  <Paragraphs>87</Paragraphs>
  <Slides>9</Slides>
  <Notes>9</Notes>
  <HiddenSlides>0</HiddenSlides>
  <MMClips>0</MMClips>
  <ScaleCrop>false</ScaleCrop>
  <HeadingPairs>
    <vt:vector size="6" baseType="variant">
      <vt:variant>
        <vt:lpstr>Použité písma</vt:lpstr>
      </vt:variant>
      <vt:variant>
        <vt:i4>2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Histogramové metódy a zlepšenie kontrastu</dc:title>
  <dc:subject>PptxGenJS Presentation</dc:subject>
  <dc:creator>PVSO – Skupina D</dc:creator>
  <cp:lastModifiedBy>Martin Brandobur</cp:lastModifiedBy>
  <cp:revision>3</cp:revision>
  <dcterms:created xsi:type="dcterms:W3CDTF">2026-03-31T16:00:37Z</dcterms:created>
  <dcterms:modified xsi:type="dcterms:W3CDTF">2026-04-07T00:46:12Z</dcterms:modified>
</cp:coreProperties>
</file>