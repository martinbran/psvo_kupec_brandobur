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34"/>
  </p:notesMasterIdLst>
  <p:sldIdLst>
    <p:sldId id="256" r:id="rId2"/>
    <p:sldId id="257" r:id="rId3"/>
    <p:sldId id="259" r:id="rId4"/>
    <p:sldId id="265" r:id="rId5"/>
    <p:sldId id="292" r:id="rId6"/>
    <p:sldId id="268" r:id="rId7"/>
    <p:sldId id="274" r:id="rId8"/>
    <p:sldId id="275" r:id="rId9"/>
    <p:sldId id="276" r:id="rId10"/>
    <p:sldId id="277" r:id="rId11"/>
    <p:sldId id="278" r:id="rId12"/>
    <p:sldId id="291" r:id="rId13"/>
    <p:sldId id="281" r:id="rId14"/>
    <p:sldId id="283" r:id="rId15"/>
    <p:sldId id="293" r:id="rId16"/>
    <p:sldId id="296" r:id="rId17"/>
    <p:sldId id="303" r:id="rId18"/>
    <p:sldId id="297" r:id="rId19"/>
    <p:sldId id="301" r:id="rId20"/>
    <p:sldId id="302" r:id="rId21"/>
    <p:sldId id="286" r:id="rId22"/>
    <p:sldId id="287" r:id="rId23"/>
    <p:sldId id="306" r:id="rId24"/>
    <p:sldId id="305" r:id="rId25"/>
    <p:sldId id="300" r:id="rId26"/>
    <p:sldId id="298" r:id="rId27"/>
    <p:sldId id="307" r:id="rId28"/>
    <p:sldId id="309" r:id="rId29"/>
    <p:sldId id="310" r:id="rId30"/>
    <p:sldId id="311" r:id="rId31"/>
    <p:sldId id="312" r:id="rId32"/>
    <p:sldId id="314" r:id="rId33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C824"/>
    <a:srgbClr val="0201FF"/>
    <a:srgbClr val="2639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8387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2AFDF-0E0A-44F4-885A-25ACFCA48554}" type="datetimeFigureOut">
              <a:rPr lang="sk-SK" smtClean="0"/>
              <a:t>31.03.2026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44F38-E328-45D0-9593-A7F08921805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8198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k-SK" dirty="0"/>
              <a:t>V našej práci si zjednodušíme vozidlo na hmotný bod</a:t>
            </a:r>
          </a:p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44F38-E328-45D0-9593-A7F08921805C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58714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poznámky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sk-SK" sz="1200" dirty="0">
                    <a:effectLst/>
                    <a:latin typeface="+mj-lt"/>
                    <a:ea typeface="Times New Roman" panose="02020603050405020304" pitchFamily="18" charset="0"/>
                  </a:rPr>
                  <a:t>Cieľom adaptívneho </a:t>
                </a:r>
                <a:r>
                  <a:rPr lang="sk-SK" sz="1200" dirty="0" err="1">
                    <a:effectLst/>
                    <a:latin typeface="+mj-lt"/>
                    <a:ea typeface="Times New Roman" panose="02020603050405020304" pitchFamily="18" charset="0"/>
                  </a:rPr>
                  <a:t>tempomatu</a:t>
                </a:r>
                <a:r>
                  <a:rPr lang="sk-SK" sz="1200" dirty="0">
                    <a:effectLst/>
                    <a:latin typeface="+mj-lt"/>
                    <a:ea typeface="Times New Roman" panose="02020603050405020304" pitchFamily="18" charset="0"/>
                  </a:rPr>
                  <a:t> je udržiavať konštantnú časovú medzeru medzi vozidlami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1200" dirty="0">
                    <a:effectLst/>
                    <a:latin typeface="+mj-lt"/>
                    <a:ea typeface="Times New Roman" panose="02020603050405020304" pitchFamily="18" charset="0"/>
                  </a:rPr>
                  <a:t>Referenčná vzdialenosť na nasledovanie predného vozidla s požadovanou relatívnou vzdialenosťou medzi vozidlami je: </a:t>
                </a:r>
                <a:r>
                  <a:rPr lang="sk-SK" sz="1200" dirty="0">
                    <a:latin typeface="+mj-lt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sz="1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begChr m:val="|"/>
                        <m:endChr m:val="|"/>
                        <m:ctrlPr>
                          <a:rPr lang="sk-SK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sk-SK" sz="12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sk-SK" sz="1200" dirty="0">
                  <a:latin typeface="+mj-lt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120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Skutočná vzdialenosť medzi vozidlami je definovaná ako rozdiel polôh vozidiel: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sz="1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k-SK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sk-SK" sz="1200" kern="10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1200" dirty="0">
                    <a:effectLst/>
                    <a:latin typeface="+mj-lt"/>
                    <a:ea typeface="Times New Roman" panose="02020603050405020304" pitchFamily="18" charset="0"/>
                  </a:rPr>
                  <a:t>Odchýlka referenčnej a skutočnej vzdialenosti vozidiel je vyjadrená ako rozdiel týchto vzdialeností: </a:t>
                </a:r>
                <a14:m>
                  <m:oMath xmlns:m="http://schemas.openxmlformats.org/officeDocument/2006/math">
                    <m:r>
                      <a:rPr lang="sk-SK" sz="1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sk-SK" sz="1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k-SK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sk-SK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sk-SK" sz="1200" dirty="0">
                  <a:latin typeface="+mj-lt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1200" dirty="0"/>
                  <a:t>Po dosadení dostaneme výslednú odchýlku referenčnej a skutočnej vzdialenosti:  </a:t>
                </a:r>
                <a14:m>
                  <m:oMath xmlns:m="http://schemas.openxmlformats.org/officeDocument/2006/math">
                    <m:r>
                      <a:rPr lang="sk-SK" sz="1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sk-SK" sz="1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sz="1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begChr m:val="|"/>
                        <m:endChr m:val="|"/>
                        <m:ctrlPr>
                          <a:rPr lang="sk-SK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sk-SK" sz="12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sk-SK" sz="1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sk-SK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sk-SK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sk-SK" sz="1200" dirty="0"/>
                  <a:t> </a:t>
                </a:r>
              </a:p>
              <a:p>
                <a:endParaRPr lang="sk-SK" dirty="0"/>
              </a:p>
            </p:txBody>
          </p:sp>
        </mc:Choice>
        <mc:Fallback xmlns="">
          <p:sp>
            <p:nvSpPr>
              <p:cNvPr id="3" name="Zástupný objekt pre poznámky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sk-SK" sz="1200" dirty="0">
                    <a:effectLst/>
                    <a:latin typeface="+mj-lt"/>
                    <a:ea typeface="Times New Roman" panose="02020603050405020304" pitchFamily="18" charset="0"/>
                  </a:rPr>
                  <a:t>Cieľom adaptívneho </a:t>
                </a:r>
                <a:r>
                  <a:rPr lang="sk-SK" sz="1200" dirty="0" err="1">
                    <a:effectLst/>
                    <a:latin typeface="+mj-lt"/>
                    <a:ea typeface="Times New Roman" panose="02020603050405020304" pitchFamily="18" charset="0"/>
                  </a:rPr>
                  <a:t>tempomatu</a:t>
                </a:r>
                <a:r>
                  <a:rPr lang="sk-SK" sz="1200" dirty="0">
                    <a:effectLst/>
                    <a:latin typeface="+mj-lt"/>
                    <a:ea typeface="Times New Roman" panose="02020603050405020304" pitchFamily="18" charset="0"/>
                  </a:rPr>
                  <a:t> je udržiavať konštantnú časovú medzeru medzi vozidlami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1200" dirty="0">
                    <a:effectLst/>
                    <a:latin typeface="+mj-lt"/>
                    <a:ea typeface="Times New Roman" panose="02020603050405020304" pitchFamily="18" charset="0"/>
                  </a:rPr>
                  <a:t>Referenčná vzdialenosť na nasledovanie predného vozidla s požadovanou relatívnou vzdialenosťou medzi vozidlami je: </a:t>
                </a:r>
                <a:r>
                  <a:rPr lang="sk-SK" sz="1200" dirty="0">
                    <a:latin typeface="+mj-lt"/>
                    <a:ea typeface="Times New Roman" panose="02020603050405020304" pitchFamily="18" charset="0"/>
                  </a:rPr>
                  <a:t> </a:t>
                </a:r>
                <a:r>
                  <a:rPr lang="sk-SK" sz="12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𝑧_𝑟=ℎ</a:t>
                </a:r>
                <a:r>
                  <a:rPr lang="sk-SK" sz="1200" i="0">
                    <a:effectLst/>
                    <a:latin typeface="Cambria Math" panose="02040503050406030204" pitchFamily="18" charset="0"/>
                  </a:rPr>
                  <a:t>|</a:t>
                </a:r>
                <a:r>
                  <a:rPr lang="sk-SK" sz="12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𝑥 ̇ |</a:t>
                </a:r>
                <a:endParaRPr lang="sk-SK" sz="1200" dirty="0">
                  <a:latin typeface="+mj-lt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120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Skutočná vzdialenosť medzi vozidlami je definovaná ako rozdiel polôh vozidiel:  </a:t>
                </a:r>
                <a:r>
                  <a:rPr lang="sk-SK" sz="12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𝑧_𝑠=𝑥_𝑝−𝑥</a:t>
                </a:r>
                <a:endParaRPr lang="sk-SK" sz="1200" kern="10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1200" dirty="0">
                    <a:effectLst/>
                    <a:latin typeface="+mj-lt"/>
                    <a:ea typeface="Times New Roman" panose="02020603050405020304" pitchFamily="18" charset="0"/>
                  </a:rPr>
                  <a:t>Odchýlka referenčnej a skutočnej vzdialenosti vozidiel je vyjadrená ako rozdiel týchto vzdialeností: </a:t>
                </a:r>
                <a:r>
                  <a:rPr lang="sk-SK" sz="12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𝑒=𝑧_𝑟−𝑧_𝑠</a:t>
                </a:r>
                <a:endParaRPr lang="sk-SK" sz="1200" dirty="0">
                  <a:latin typeface="+mj-lt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1200" dirty="0"/>
                  <a:t>Po dosadení dostaneme výslednú odchýlku referenčnej a skutočnej vzdialenosti:  </a:t>
                </a:r>
                <a:r>
                  <a:rPr lang="sk-SK" sz="12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𝑒=ℎ</a:t>
                </a:r>
                <a:r>
                  <a:rPr lang="sk-SK" sz="1200" i="0">
                    <a:effectLst/>
                    <a:latin typeface="Cambria Math" panose="02040503050406030204" pitchFamily="18" charset="0"/>
                  </a:rPr>
                  <a:t>|</a:t>
                </a:r>
                <a:r>
                  <a:rPr lang="sk-SK" sz="12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𝑥 ̇ |−</a:t>
                </a:r>
                <a:r>
                  <a:rPr lang="sk-SK" sz="1200" i="0">
                    <a:effectLst/>
                    <a:latin typeface="Cambria Math" panose="02040503050406030204" pitchFamily="18" charset="0"/>
                  </a:rPr>
                  <a:t>〖</a:t>
                </a:r>
                <a:r>
                  <a:rPr lang="sk-SK" sz="12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(𝑥〗_𝑝−𝑥)</a:t>
                </a:r>
                <a:r>
                  <a:rPr lang="sk-SK" sz="1200" dirty="0"/>
                  <a:t> </a:t>
                </a:r>
              </a:p>
              <a:p>
                <a:endParaRPr lang="sk-SK" dirty="0"/>
              </a:p>
            </p:txBody>
          </p:sp>
        </mc:Fallback>
      </mc:AlternateContent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44F38-E328-45D0-9593-A7F08921805C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28855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poznámky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sk-SK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re dostatočne vysoké </a:t>
                </a:r>
                <a14:m>
                  <m:oMath xmlns:m="http://schemas.openxmlformats.org/officeDocument/2006/math">
                    <m:r>
                      <a:rPr lang="sk-SK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sk-SK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tak zákon riadenia zabezpečí zníženie rýchlosti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sk-SK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nad priamkou a zvýšenie rýchlosti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sk-SK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pod priamkou</a:t>
                </a:r>
                <a:endParaRPr lang="sk-SK" dirty="0"/>
              </a:p>
              <a:p>
                <a:endParaRPr lang="sk-SK" dirty="0"/>
              </a:p>
            </p:txBody>
          </p:sp>
        </mc:Choice>
        <mc:Fallback xmlns="">
          <p:sp>
            <p:nvSpPr>
              <p:cNvPr id="3" name="Zástupný objekt pre poznámky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sk-SK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re dostatočne vysoké </a:t>
                </a:r>
                <a:r>
                  <a:rPr lang="sk-SK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𝐾&gt;0</a:t>
                </a:r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tak zákon riadenia zabezpečí zníženie rýchlosti </a:t>
                </a:r>
                <a:r>
                  <a:rPr lang="sk-SK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𝑥 ̇</a:t>
                </a:r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nad priamkou a zvýšenie rýchlosti </a:t>
                </a:r>
                <a:r>
                  <a:rPr lang="sk-SK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𝑥 ̇</a:t>
                </a:r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pod priamkou</a:t>
                </a:r>
                <a:endParaRPr lang="sk-SK" dirty="0"/>
              </a:p>
              <a:p>
                <a:endParaRPr lang="sk-SK" dirty="0"/>
              </a:p>
            </p:txBody>
          </p:sp>
        </mc:Fallback>
      </mc:AlternateContent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44F38-E328-45D0-9593-A7F08921805C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3848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97D1F-2BD0-A9FC-CACE-2CDB563F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AC3480F8-F056-064C-9315-13C3CCDE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5C5D7C3D-6B3A-2589-BA8E-B57AA8AE2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EBEE2E4-3E05-FB34-2098-467A929C5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44F38-E328-45D0-9593-A7F08921805C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78827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3F7F-AB51-4ECC-0107-CA31C5FF4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A2A7613D-E447-0B1F-BBC8-977C17E39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1E88D7C9-F3AA-0D8B-D59E-A1567336C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6A4A776-2D22-B1F6-A214-C44CA5A15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44F38-E328-45D0-9593-A7F08921805C}" type="slidenum">
              <a:rPr lang="sk-SK" smtClean="0"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1957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k-SK" sz="1200" dirty="0"/>
              <a:t>Ak by tam nebola použitá absolútna hodnota, referenčná vzdialenosť by mohla nadobudnúť záporné hodnoty čo by znamenalo, že riadené vozidlo by bolo pred vozidlom ktoré chceme nasledovať</a:t>
            </a:r>
          </a:p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44F38-E328-45D0-9593-A7F08921805C}" type="slidenum">
              <a:rPr lang="sk-SK" smtClean="0"/>
              <a:t>23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48128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Odstránenie </a:t>
            </a:r>
            <a:r>
              <a:rPr lang="sk-SK" dirty="0" err="1"/>
              <a:t>absolutnej</a:t>
            </a:r>
            <a:r>
              <a:rPr lang="sk-SK" dirty="0"/>
              <a:t> hodnoty a zmena </a:t>
            </a:r>
            <a:r>
              <a:rPr lang="sk-SK" dirty="0" err="1"/>
              <a:t>z_f</a:t>
            </a:r>
            <a:r>
              <a:rPr lang="sk-SK" dirty="0"/>
              <a:t> na zápornú hodnotu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44F38-E328-45D0-9593-A7F08921805C}" type="slidenum">
              <a:rPr lang="sk-SK" smtClean="0"/>
              <a:t>24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9824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44F38-E328-45D0-9593-A7F08921805C}" type="slidenum">
              <a:rPr lang="sk-SK" smtClean="0"/>
              <a:t>32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6800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80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18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14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606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22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9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38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43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046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05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34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64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7724C-599C-4492-B900-CE712060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19" b="481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7" name="Rectangle">
            <a:extLst>
              <a:ext uri="{FF2B5EF4-FFF2-40B4-BE49-F238E27FC236}">
                <a16:creationId xmlns:a16="http://schemas.microsoft.com/office/drawing/2014/main" id="{C1FDB97C-3AD1-C545-A219-4B4FCF5A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76630"/>
            <a:ext cx="5106597" cy="4904739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69387E6-38F0-11D3-A215-93D9CB680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49" y="1302512"/>
            <a:ext cx="8102196" cy="28264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400" dirty="0"/>
              <a:t>Histogramové metódy a zlepšenie kontrastu</a:t>
            </a:r>
            <a:endParaRPr lang="sk-SK" sz="44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9DFFD52-E54A-8F3E-31AD-E56381E27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48" y="4352732"/>
            <a:ext cx="8235951" cy="1854519"/>
          </a:xfrm>
        </p:spPr>
        <p:txBody>
          <a:bodyPr>
            <a:noAutofit/>
          </a:bodyPr>
          <a:lstStyle/>
          <a:p>
            <a:r>
              <a:rPr lang="sk-SK" dirty="0"/>
              <a:t>Autori: 			Dominik Kupec a Martin Brandobur</a:t>
            </a:r>
          </a:p>
          <a:p>
            <a:r>
              <a:rPr lang="sk-SK" dirty="0"/>
              <a:t>Študijný program: 	robotika a kybernetika</a:t>
            </a:r>
          </a:p>
          <a:p>
            <a:r>
              <a:rPr lang="sk-SK" dirty="0"/>
              <a:t>Študijný odbor: 	kybernetika</a:t>
            </a:r>
          </a:p>
          <a:p>
            <a:r>
              <a:rPr lang="sk-SK" dirty="0"/>
              <a:t>Predmet: 		počítačové videnie a spracovanie obrazu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266FA8-F626-1C42-B021-A57818E97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30" name="Freeform 55">
              <a:extLst>
                <a:ext uri="{FF2B5EF4-FFF2-40B4-BE49-F238E27FC236}">
                  <a16:creationId xmlns:a16="http://schemas.microsoft.com/office/drawing/2014/main" id="{2B43B9E4-DCCD-B14F-9DC7-6EF6DF1F6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56">
              <a:extLst>
                <a:ext uri="{FF2B5EF4-FFF2-40B4-BE49-F238E27FC236}">
                  <a16:creationId xmlns:a16="http://schemas.microsoft.com/office/drawing/2014/main" id="{778EA148-BF2C-2F4F-B0F5-E0C8EFCF5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57">
              <a:extLst>
                <a:ext uri="{FF2B5EF4-FFF2-40B4-BE49-F238E27FC236}">
                  <a16:creationId xmlns:a16="http://schemas.microsoft.com/office/drawing/2014/main" id="{A2CACC73-49F7-E24D-92B3-BBFE98702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58">
              <a:extLst>
                <a:ext uri="{FF2B5EF4-FFF2-40B4-BE49-F238E27FC236}">
                  <a16:creationId xmlns:a16="http://schemas.microsoft.com/office/drawing/2014/main" id="{58FF2A73-C08D-E244-97FA-CCE6B5ABB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59">
              <a:extLst>
                <a:ext uri="{FF2B5EF4-FFF2-40B4-BE49-F238E27FC236}">
                  <a16:creationId xmlns:a16="http://schemas.microsoft.com/office/drawing/2014/main" id="{F9251654-A54A-C947-8F27-7511D3D98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60">
              <a:extLst>
                <a:ext uri="{FF2B5EF4-FFF2-40B4-BE49-F238E27FC236}">
                  <a16:creationId xmlns:a16="http://schemas.microsoft.com/office/drawing/2014/main" id="{7005C174-7450-D94C-966E-15D46489B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61">
              <a:extLst>
                <a:ext uri="{FF2B5EF4-FFF2-40B4-BE49-F238E27FC236}">
                  <a16:creationId xmlns:a16="http://schemas.microsoft.com/office/drawing/2014/main" id="{BC08F9D6-DAB6-B34E-A0D1-199D9B531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3526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11BB074-1188-B112-F4FB-E07039B1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130224" cy="1268984"/>
          </a:xfrm>
        </p:spPr>
        <p:txBody>
          <a:bodyPr>
            <a:normAutofit/>
          </a:bodyPr>
          <a:lstStyle/>
          <a:p>
            <a:r>
              <a:rPr lang="sk-SK" dirty="0"/>
              <a:t>Cieľ práce</a:t>
            </a:r>
          </a:p>
        </p:txBody>
      </p:sp>
      <p:sp>
        <p:nvSpPr>
          <p:cNvPr id="129" name="Zástupný objekt pre obsah 2">
            <a:extLst>
              <a:ext uri="{FF2B5EF4-FFF2-40B4-BE49-F238E27FC236}">
                <a16:creationId xmlns:a16="http://schemas.microsoft.com/office/drawing/2014/main" id="{707667C2-0B7B-7A93-1907-A3F666F48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10130224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k-SK" dirty="0"/>
              <a:t>Naštudovať metódu riadenia s premenlivou štruktúrou</a:t>
            </a:r>
          </a:p>
          <a:p>
            <a:pPr>
              <a:lnSpc>
                <a:spcPct val="90000"/>
              </a:lnSpc>
            </a:pPr>
            <a:r>
              <a:rPr lang="sk-SK" dirty="0"/>
              <a:t>Naštudovať jednorozmerný model dynamiky vozidla</a:t>
            </a:r>
          </a:p>
          <a:p>
            <a:pPr>
              <a:lnSpc>
                <a:spcPct val="90000"/>
              </a:lnSpc>
            </a:pPr>
            <a:r>
              <a:rPr lang="sk-SK" dirty="0"/>
              <a:t>Navrhnúť robustný </a:t>
            </a:r>
            <a:r>
              <a:rPr lang="sk-SK" dirty="0" err="1"/>
              <a:t>tempomat</a:t>
            </a:r>
            <a:r>
              <a:rPr lang="sk-SK" dirty="0"/>
              <a:t> s premenlivou štruktúrou</a:t>
            </a:r>
          </a:p>
          <a:p>
            <a:pPr>
              <a:lnSpc>
                <a:spcPct val="90000"/>
              </a:lnSpc>
            </a:pPr>
            <a:r>
              <a:rPr lang="sk-SK" dirty="0"/>
              <a:t>Realizovať navrhnutú štruktúru riadenia v </a:t>
            </a:r>
            <a:r>
              <a:rPr lang="sk-SK" dirty="0" err="1"/>
              <a:t>Matlab-Simulink</a:t>
            </a:r>
            <a:endParaRPr lang="sk-SK" dirty="0"/>
          </a:p>
          <a:p>
            <a:pPr>
              <a:lnSpc>
                <a:spcPct val="90000"/>
              </a:lnSpc>
            </a:pPr>
            <a:r>
              <a:rPr lang="sk-SK" dirty="0"/>
              <a:t>Overiť regulačnú štruktúru na jednorozmernom modeli dynamiky vozidla</a:t>
            </a:r>
          </a:p>
          <a:p>
            <a:pPr>
              <a:lnSpc>
                <a:spcPct val="90000"/>
              </a:lnSpc>
            </a:pPr>
            <a:r>
              <a:rPr lang="sk-SK" dirty="0"/>
              <a:t>Analyzovať vlastnosti regulačnej štruktúry</a:t>
            </a:r>
          </a:p>
          <a:p>
            <a:pPr>
              <a:lnSpc>
                <a:spcPct val="90000"/>
              </a:lnSpc>
            </a:pPr>
            <a:r>
              <a:rPr lang="sk-SK" dirty="0"/>
              <a:t>Vyhodnotiť dosiahnuté výsledky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A30B600-877F-7746-B57D-25C3B476F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76" name="Freeform 43">
              <a:extLst>
                <a:ext uri="{FF2B5EF4-FFF2-40B4-BE49-F238E27FC236}">
                  <a16:creationId xmlns:a16="http://schemas.microsoft.com/office/drawing/2014/main" id="{2C3F9BC4-CA61-1545-AFCA-2998DE0A8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44">
              <a:extLst>
                <a:ext uri="{FF2B5EF4-FFF2-40B4-BE49-F238E27FC236}">
                  <a16:creationId xmlns:a16="http://schemas.microsoft.com/office/drawing/2014/main" id="{6DF9667B-A221-FF48-BE03-0BCECE027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0" name="Freeform 45">
              <a:extLst>
                <a:ext uri="{FF2B5EF4-FFF2-40B4-BE49-F238E27FC236}">
                  <a16:creationId xmlns:a16="http://schemas.microsoft.com/office/drawing/2014/main" id="{B043781C-7B99-5E41-ACB6-43554D9E3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1" name="Freeform 46">
              <a:extLst>
                <a:ext uri="{FF2B5EF4-FFF2-40B4-BE49-F238E27FC236}">
                  <a16:creationId xmlns:a16="http://schemas.microsoft.com/office/drawing/2014/main" id="{24D64776-7D03-D04E-9D4F-4913424D1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2" name="Freeform 47">
              <a:extLst>
                <a:ext uri="{FF2B5EF4-FFF2-40B4-BE49-F238E27FC236}">
                  <a16:creationId xmlns:a16="http://schemas.microsoft.com/office/drawing/2014/main" id="{84D49EAC-E325-E74E-9875-A5B09696F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3" name="Freeform 48">
              <a:extLst>
                <a:ext uri="{FF2B5EF4-FFF2-40B4-BE49-F238E27FC236}">
                  <a16:creationId xmlns:a16="http://schemas.microsoft.com/office/drawing/2014/main" id="{A82CBB5F-9CE4-9F41-828D-030FF74ABE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34" name="Straight Connector 82">
            <a:extLst>
              <a:ext uri="{FF2B5EF4-FFF2-40B4-BE49-F238E27FC236}">
                <a16:creationId xmlns:a16="http://schemas.microsoft.com/office/drawing/2014/main" id="{BE2AC807-9FDE-674F-84BF-EC319D68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53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Zástupný objekt pre obsah 2">
            <a:extLst>
              <a:ext uri="{FF2B5EF4-FFF2-40B4-BE49-F238E27FC236}">
                <a16:creationId xmlns:a16="http://schemas.microsoft.com/office/drawing/2014/main" id="{77C37969-D8F8-0596-C0CC-852212BF4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63" y="4098523"/>
            <a:ext cx="5995137" cy="1092339"/>
          </a:xfrm>
        </p:spPr>
        <p:txBody>
          <a:bodyPr>
            <a:normAutofit/>
          </a:bodyPr>
          <a:lstStyle/>
          <a:p>
            <a:r>
              <a:rPr lang="sk-SK" dirty="0"/>
              <a:t>Pohybovú rovnicu zostrojíme pomocou druhého </a:t>
            </a:r>
            <a:r>
              <a:rPr lang="sk-SK" dirty="0" err="1"/>
              <a:t>Newtonovho</a:t>
            </a:r>
            <a:r>
              <a:rPr lang="sk-SK" dirty="0"/>
              <a:t> zákona</a:t>
            </a:r>
          </a:p>
        </p:txBody>
      </p:sp>
      <p:pic>
        <p:nvPicPr>
          <p:cNvPr id="6" name="Obrázok 5" descr="Obrázok, na ktorom je náčrt, vozidlo, pozemné vozidlo, nálepka na auto&#10;&#10;Automaticky generovaný popis">
            <a:extLst>
              <a:ext uri="{FF2B5EF4-FFF2-40B4-BE49-F238E27FC236}">
                <a16:creationId xmlns:a16="http://schemas.microsoft.com/office/drawing/2014/main" id="{384A1519-1948-3410-4D8B-73BA5C4C4A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59" y="2033076"/>
            <a:ext cx="4334439" cy="1430365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82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BlokTextu 54">
                <a:extLst>
                  <a:ext uri="{FF2B5EF4-FFF2-40B4-BE49-F238E27FC236}">
                    <a16:creationId xmlns:a16="http://schemas.microsoft.com/office/drawing/2014/main" id="{9A49F637-37A8-46CD-00E0-C96D3DD0E657}"/>
                  </a:ext>
                </a:extLst>
              </p:cNvPr>
              <p:cNvSpPr txBox="1"/>
              <p:nvPr/>
            </p:nvSpPr>
            <p:spPr>
              <a:xfrm>
                <a:off x="-2" y="5303632"/>
                <a:ext cx="6094324" cy="841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sk-S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sk-SK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k-SK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sk-SK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sk-SK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sk-SK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k-SK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sk-S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sk-S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k-S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d>
                            <m:dPr>
                              <m:begChr m:val="|"/>
                              <m:endChr m:val="|"/>
                              <m:ctrlPr>
                                <a:rPr lang="sk-S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sk-SK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k-SK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sk-SK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sk-SK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55" name="BlokTextu 54">
                <a:extLst>
                  <a:ext uri="{FF2B5EF4-FFF2-40B4-BE49-F238E27FC236}">
                    <a16:creationId xmlns:a16="http://schemas.microsoft.com/office/drawing/2014/main" id="{9A49F637-37A8-46CD-00E0-C96D3DD0E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5303632"/>
                <a:ext cx="6094324" cy="841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BlokTextu 64">
                <a:extLst>
                  <a:ext uri="{FF2B5EF4-FFF2-40B4-BE49-F238E27FC236}">
                    <a16:creationId xmlns:a16="http://schemas.microsoft.com/office/drawing/2014/main" id="{ED83E0CF-C8CA-67DC-DD28-D834D23BC3BB}"/>
                  </a:ext>
                </a:extLst>
              </p:cNvPr>
              <p:cNvSpPr txBox="1"/>
              <p:nvPr/>
            </p:nvSpPr>
            <p:spPr>
              <a:xfrm>
                <a:off x="2451369" y="2607920"/>
                <a:ext cx="362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solidFill>
                                <a:srgbClr val="21C82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solidFill>
                                <a:srgbClr val="21C824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k-SK" i="1">
                              <a:solidFill>
                                <a:srgbClr val="21C824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sk-SK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5" name="BlokTextu 64">
                <a:extLst>
                  <a:ext uri="{FF2B5EF4-FFF2-40B4-BE49-F238E27FC236}">
                    <a16:creationId xmlns:a16="http://schemas.microsoft.com/office/drawing/2014/main" id="{ED83E0CF-C8CA-67DC-DD28-D834D23BC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369" y="2607920"/>
                <a:ext cx="362809" cy="369332"/>
              </a:xfrm>
              <a:prstGeom prst="rect">
                <a:avLst/>
              </a:prstGeom>
              <a:blipFill>
                <a:blip r:embed="rId5"/>
                <a:stretch>
                  <a:fillRect r="-1667" b="-1667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BlokTextu 67">
                <a:extLst>
                  <a:ext uri="{FF2B5EF4-FFF2-40B4-BE49-F238E27FC236}">
                    <a16:creationId xmlns:a16="http://schemas.microsoft.com/office/drawing/2014/main" id="{16883BE0-DE2E-3F34-34C6-84B060BBA92E}"/>
                  </a:ext>
                </a:extLst>
              </p:cNvPr>
              <p:cNvSpPr txBox="1"/>
              <p:nvPr/>
            </p:nvSpPr>
            <p:spPr>
              <a:xfrm>
                <a:off x="3098328" y="2607920"/>
                <a:ext cx="3628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solidFill>
                                <a:srgbClr val="0201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solidFill>
                                <a:srgbClr val="0201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k-SK" b="0" i="1" smtClean="0">
                              <a:solidFill>
                                <a:srgbClr val="0201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sk-SK" dirty="0">
                  <a:solidFill>
                    <a:srgbClr val="0201FF"/>
                  </a:solidFill>
                </a:endParaRPr>
              </a:p>
            </p:txBody>
          </p:sp>
        </mc:Choice>
        <mc:Fallback xmlns="">
          <p:sp>
            <p:nvSpPr>
              <p:cNvPr id="68" name="BlokTextu 67">
                <a:extLst>
                  <a:ext uri="{FF2B5EF4-FFF2-40B4-BE49-F238E27FC236}">
                    <a16:creationId xmlns:a16="http://schemas.microsoft.com/office/drawing/2014/main" id="{16883BE0-DE2E-3F34-34C6-84B060BBA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328" y="2607920"/>
                <a:ext cx="36280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BlokTextu 72">
            <a:extLst>
              <a:ext uri="{FF2B5EF4-FFF2-40B4-BE49-F238E27FC236}">
                <a16:creationId xmlns:a16="http://schemas.microsoft.com/office/drawing/2014/main" id="{D010E88E-632E-8F3B-DEC2-1A5CB2C8286C}"/>
              </a:ext>
            </a:extLst>
          </p:cNvPr>
          <p:cNvSpPr txBox="1"/>
          <p:nvPr/>
        </p:nvSpPr>
        <p:spPr>
          <a:xfrm>
            <a:off x="759594" y="3460919"/>
            <a:ext cx="4221804" cy="41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1200"/>
              </a:spcAft>
            </a:pPr>
            <a:r>
              <a:rPr lang="sk-SK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Znázornenie vektorov síl na vozidle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49FAA17-B372-E524-6D36-53BAF5B4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22" y="770890"/>
            <a:ext cx="10273495" cy="1268984"/>
          </a:xfrm>
        </p:spPr>
        <p:txBody>
          <a:bodyPr>
            <a:normAutofit fontScale="90000"/>
          </a:bodyPr>
          <a:lstStyle/>
          <a:p>
            <a:r>
              <a:rPr lang="sk-SK" dirty="0"/>
              <a:t>Model dynamiky vozidla a jeho spracovanie</a:t>
            </a: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AF29A6E1-6F6E-AC25-C229-849BDC4184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1244" y="1648948"/>
            <a:ext cx="5300834" cy="2146838"/>
          </a:xfrm>
          <a:prstGeom prst="rect">
            <a:avLst/>
          </a:prstGeom>
          <a:noFill/>
        </p:spPr>
      </p:pic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EF5585E8-5E75-AC33-DC2D-DAA73539A831}"/>
              </a:ext>
            </a:extLst>
          </p:cNvPr>
          <p:cNvSpPr txBox="1">
            <a:spLocks/>
          </p:cNvSpPr>
          <p:nvPr/>
        </p:nvSpPr>
        <p:spPr>
          <a:xfrm>
            <a:off x="6277300" y="4098522"/>
            <a:ext cx="5995137" cy="1092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sk-SK" dirty="0"/>
              <a:t>Na základe pohybovej rovnice sme vytvorili simulačnú schému modelu vozidla v </a:t>
            </a:r>
            <a:r>
              <a:rPr lang="sk-SK" dirty="0" err="1"/>
              <a:t>Matlab-Simulink</a:t>
            </a:r>
            <a:endParaRPr lang="sk-S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BlokTextu 4">
                <a:extLst>
                  <a:ext uri="{FF2B5EF4-FFF2-40B4-BE49-F238E27FC236}">
                    <a16:creationId xmlns:a16="http://schemas.microsoft.com/office/drawing/2014/main" id="{3BB7ABB8-F567-145B-345F-6AC72C192ABF}"/>
                  </a:ext>
                </a:extLst>
              </p:cNvPr>
              <p:cNvSpPr txBox="1"/>
              <p:nvPr/>
            </p:nvSpPr>
            <p:spPr>
              <a:xfrm>
                <a:off x="7943849" y="5393341"/>
                <a:ext cx="2562938" cy="491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sk-SK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sk-SK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̇"/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|"/>
                        <m:endChr m:val="|"/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sk-SK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sk-SK" dirty="0">
                    <a:solidFill>
                      <a:schemeClr val="tx1"/>
                    </a:solidFill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sk-S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sk-S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BlokTextu 4">
                <a:extLst>
                  <a:ext uri="{FF2B5EF4-FFF2-40B4-BE49-F238E27FC236}">
                    <a16:creationId xmlns:a16="http://schemas.microsoft.com/office/drawing/2014/main" id="{3BB7ABB8-F567-145B-345F-6AC72C192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849" y="5393341"/>
                <a:ext cx="2562938" cy="491288"/>
              </a:xfrm>
              <a:prstGeom prst="rect">
                <a:avLst/>
              </a:prstGeom>
              <a:blipFill>
                <a:blip r:embed="rId8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830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96D9CA8-67EA-7E03-DB0E-06D31DF9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4541445" cy="1587449"/>
          </a:xfrm>
        </p:spPr>
        <p:txBody>
          <a:bodyPr>
            <a:normAutofit fontScale="90000"/>
          </a:bodyPr>
          <a:lstStyle/>
          <a:p>
            <a:r>
              <a:rPr lang="sk-SK" sz="3600" dirty="0"/>
              <a:t>Vytvorenie</a:t>
            </a:r>
            <a:r>
              <a:rPr lang="en-US" sz="3600" dirty="0"/>
              <a:t> </a:t>
            </a:r>
            <a:r>
              <a:rPr lang="sk-SK" sz="3600" noProof="0" dirty="0"/>
              <a:t>simulačnej</a:t>
            </a:r>
            <a:r>
              <a:rPr lang="en-US" sz="3600" dirty="0"/>
              <a:t> </a:t>
            </a:r>
            <a:r>
              <a:rPr lang="sk-SK" sz="3600" noProof="0" dirty="0"/>
              <a:t>schémy</a:t>
            </a:r>
            <a:r>
              <a:rPr lang="sk-SK" sz="3600" dirty="0"/>
              <a:t> modelu vozidla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972C4A6-0A67-C01E-9294-6735BCBD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5706" y="817197"/>
            <a:ext cx="5373685" cy="74125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k-SK" sz="1500" dirty="0"/>
              <a:t>Na základe pohybovej rovnice sme vytvorili simulačnú schému v </a:t>
            </a:r>
            <a:r>
              <a:rPr lang="sk-SK" sz="1500" dirty="0" err="1"/>
              <a:t>Matlab-Simulink</a:t>
            </a:r>
            <a:endParaRPr lang="sk-SK" sz="1500" dirty="0"/>
          </a:p>
          <a:p>
            <a:pPr>
              <a:lnSpc>
                <a:spcPct val="90000"/>
              </a:lnSpc>
            </a:pPr>
            <a:endParaRPr lang="sk-SK" sz="1500" dirty="0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488A4E49-4785-D6B5-6B91-84B49BE1D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6358" y="2691638"/>
            <a:ext cx="7875881" cy="3189732"/>
          </a:xfrm>
          <a:prstGeom prst="rect">
            <a:avLst/>
          </a:prstGeom>
          <a:noFill/>
        </p:spPr>
      </p:pic>
      <p:grpSp>
        <p:nvGrpSpPr>
          <p:cNvPr id="20" name="Group 10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1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5" name="Straight Connector 16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BlokTextu 6">
                <a:extLst>
                  <a:ext uri="{FF2B5EF4-FFF2-40B4-BE49-F238E27FC236}">
                    <a16:creationId xmlns:a16="http://schemas.microsoft.com/office/drawing/2014/main" id="{EF2F8CB8-D8DF-3205-033A-8EF8F1919BC6}"/>
                  </a:ext>
                </a:extLst>
              </p:cNvPr>
              <p:cNvSpPr txBox="1"/>
              <p:nvPr/>
            </p:nvSpPr>
            <p:spPr>
              <a:xfrm>
                <a:off x="7561079" y="1564436"/>
                <a:ext cx="2562938" cy="491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sk-SK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sk-SK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̇"/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begChr m:val="|"/>
                        <m:endChr m:val="|"/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sk-SK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sk-SK" dirty="0">
                    <a:solidFill>
                      <a:schemeClr val="tx1"/>
                    </a:solidFill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sk-S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sk-S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BlokTextu 6">
                <a:extLst>
                  <a:ext uri="{FF2B5EF4-FFF2-40B4-BE49-F238E27FC236}">
                    <a16:creationId xmlns:a16="http://schemas.microsoft.com/office/drawing/2014/main" id="{EF2F8CB8-D8DF-3205-033A-8EF8F1919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079" y="1564436"/>
                <a:ext cx="2562938" cy="491288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53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6BC0CCA-2F1A-FD8A-291F-B44FCCE5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8739624" cy="1587449"/>
          </a:xfrm>
        </p:spPr>
        <p:txBody>
          <a:bodyPr>
            <a:normAutofit/>
          </a:bodyPr>
          <a:lstStyle/>
          <a:p>
            <a:r>
              <a:rPr lang="sk-SK" sz="3600" dirty="0"/>
              <a:t>Popis fungovania časového odstupu medzi vozidlami</a:t>
            </a:r>
          </a:p>
        </p:txBody>
      </p:sp>
      <p:pic>
        <p:nvPicPr>
          <p:cNvPr id="4" name="Obrázok 3" descr="Obrázok, na ktorom je čierny, temnota&#10;&#10;Automaticky generovaný popis">
            <a:extLst>
              <a:ext uri="{FF2B5EF4-FFF2-40B4-BE49-F238E27FC236}">
                <a16:creationId xmlns:a16="http://schemas.microsoft.com/office/drawing/2014/main" id="{6B1C5329-7CF9-D57E-E834-215E68E0E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89" y="2048569"/>
            <a:ext cx="10885620" cy="214847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BlokTextu 20">
                <a:extLst>
                  <a:ext uri="{FF2B5EF4-FFF2-40B4-BE49-F238E27FC236}">
                    <a16:creationId xmlns:a16="http://schemas.microsoft.com/office/drawing/2014/main" id="{01F75015-4712-10D1-049C-E0A5EFEF13C7}"/>
                  </a:ext>
                </a:extLst>
              </p:cNvPr>
              <p:cNvSpPr txBox="1"/>
              <p:nvPr/>
            </p:nvSpPr>
            <p:spPr>
              <a:xfrm>
                <a:off x="7159056" y="3731088"/>
                <a:ext cx="538821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k-SK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1" name="BlokTextu 20">
                <a:extLst>
                  <a:ext uri="{FF2B5EF4-FFF2-40B4-BE49-F238E27FC236}">
                    <a16:creationId xmlns:a16="http://schemas.microsoft.com/office/drawing/2014/main" id="{01F75015-4712-10D1-049C-E0A5EFEF1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056" y="3731088"/>
                <a:ext cx="538821" cy="423770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BlokTextu 23">
                <a:extLst>
                  <a:ext uri="{FF2B5EF4-FFF2-40B4-BE49-F238E27FC236}">
                    <a16:creationId xmlns:a16="http://schemas.microsoft.com/office/drawing/2014/main" id="{BC8BEF2A-8950-FBD6-3C4A-38922F73C568}"/>
                  </a:ext>
                </a:extLst>
              </p:cNvPr>
              <p:cNvSpPr txBox="1"/>
              <p:nvPr/>
            </p:nvSpPr>
            <p:spPr>
              <a:xfrm>
                <a:off x="6889645" y="2938141"/>
                <a:ext cx="538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sk-SK" sz="2000" dirty="0"/>
              </a:p>
            </p:txBody>
          </p:sp>
        </mc:Choice>
        <mc:Fallback xmlns="">
          <p:sp>
            <p:nvSpPr>
              <p:cNvPr id="24" name="BlokTextu 23">
                <a:extLst>
                  <a:ext uri="{FF2B5EF4-FFF2-40B4-BE49-F238E27FC236}">
                    <a16:creationId xmlns:a16="http://schemas.microsoft.com/office/drawing/2014/main" id="{BC8BEF2A-8950-FBD6-3C4A-38922F73C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645" y="2938141"/>
                <a:ext cx="53882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BlokTextu 24">
                <a:extLst>
                  <a:ext uri="{FF2B5EF4-FFF2-40B4-BE49-F238E27FC236}">
                    <a16:creationId xmlns:a16="http://schemas.microsoft.com/office/drawing/2014/main" id="{D2797DB2-7C68-4E0D-3CCD-672B0C371E1F}"/>
                  </a:ext>
                </a:extLst>
              </p:cNvPr>
              <p:cNvSpPr txBox="1"/>
              <p:nvPr/>
            </p:nvSpPr>
            <p:spPr>
              <a:xfrm>
                <a:off x="5367052" y="2930715"/>
                <a:ext cx="538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sk-SK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5" name="BlokTextu 24">
                <a:extLst>
                  <a:ext uri="{FF2B5EF4-FFF2-40B4-BE49-F238E27FC236}">
                    <a16:creationId xmlns:a16="http://schemas.microsoft.com/office/drawing/2014/main" id="{D2797DB2-7C68-4E0D-3CCD-672B0C371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052" y="2930715"/>
                <a:ext cx="53882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ástupný objekt pre obsah 2">
                <a:extLst>
                  <a:ext uri="{FF2B5EF4-FFF2-40B4-BE49-F238E27FC236}">
                    <a16:creationId xmlns:a16="http://schemas.microsoft.com/office/drawing/2014/main" id="{CC8D0EC4-D2A5-7DB6-A32C-CFD266428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49" y="4265088"/>
                <a:ext cx="10130224" cy="1823313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k-SK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begChr m:val="|"/>
                        <m:endChr m:val="|"/>
                        <m:ctrlPr>
                          <a:rPr lang="sk-SK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sk-SK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sk-SK" sz="2000" dirty="0">
                  <a:latin typeface="Neue Haas Grotesk Text Pro (Nadpisy)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k-SK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k-SK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sk-SK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sk-SK" sz="2000" kern="100" dirty="0">
                  <a:effectLst/>
                  <a:latin typeface="Neue Haas Grotesk Text Pro (Nadpisy)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sk-SK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sk-SK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sk-SK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sk-SK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sk-SK" sz="2000" dirty="0">
                  <a:latin typeface="Neue Haas Grotesk Text Pro (Nadpisy)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2000" dirty="0">
                    <a:latin typeface="Neue Haas Grotesk Text Pro (Nadpisy)"/>
                  </a:rPr>
                  <a:t>Po dosadení dostaneme výslednú odchýlku referenčnej a skutočnej vzdialenosti:  </a:t>
                </a:r>
                <a14:m>
                  <m:oMath xmlns:m="http://schemas.openxmlformats.org/officeDocument/2006/math">
                    <m:r>
                      <a:rPr lang="sk-SK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sk-SK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begChr m:val="|"/>
                        <m:endChr m:val="|"/>
                        <m:ctrlPr>
                          <a:rPr lang="sk-SK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sk-SK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sk-SK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sk-SK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sk-SK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sk-SK" sz="2000" dirty="0">
                    <a:latin typeface="Neue Haas Grotesk Text Pro (Nadpisy)"/>
                  </a:rPr>
                  <a:t> </a:t>
                </a:r>
              </a:p>
            </p:txBody>
          </p:sp>
        </mc:Choice>
        <mc:Fallback xmlns="">
          <p:sp>
            <p:nvSpPr>
              <p:cNvPr id="5" name="Zástupný objekt pre obsah 2">
                <a:extLst>
                  <a:ext uri="{FF2B5EF4-FFF2-40B4-BE49-F238E27FC236}">
                    <a16:creationId xmlns:a16="http://schemas.microsoft.com/office/drawing/2014/main" id="{CC8D0EC4-D2A5-7DB6-A32C-CFD266428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49" y="4265088"/>
                <a:ext cx="10130224" cy="1823313"/>
              </a:xfrm>
              <a:blipFill>
                <a:blip r:embed="rId7"/>
                <a:stretch>
                  <a:fillRect l="-542" t="-2676" b="-1338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BlokTextu 6">
                <a:extLst>
                  <a:ext uri="{FF2B5EF4-FFF2-40B4-BE49-F238E27FC236}">
                    <a16:creationId xmlns:a16="http://schemas.microsoft.com/office/drawing/2014/main" id="{BE5FA9F8-A778-0E4B-4DBD-1466AAFEF7AA}"/>
                  </a:ext>
                </a:extLst>
              </p:cNvPr>
              <p:cNvSpPr txBox="1"/>
              <p:nvPr/>
            </p:nvSpPr>
            <p:spPr>
              <a:xfrm>
                <a:off x="4494124" y="3720066"/>
                <a:ext cx="538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sz="2000" dirty="0"/>
              </a:p>
            </p:txBody>
          </p:sp>
        </mc:Choice>
        <mc:Fallback xmlns="">
          <p:sp>
            <p:nvSpPr>
              <p:cNvPr id="7" name="BlokTextu 6">
                <a:extLst>
                  <a:ext uri="{FF2B5EF4-FFF2-40B4-BE49-F238E27FC236}">
                    <a16:creationId xmlns:a16="http://schemas.microsoft.com/office/drawing/2014/main" id="{BE5FA9F8-A778-0E4B-4DBD-1466AAFEF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124" y="3720066"/>
                <a:ext cx="53882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346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8DDC31-217B-12D6-B411-550BC258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6400999" cy="1268984"/>
          </a:xfrm>
        </p:spPr>
        <p:txBody>
          <a:bodyPr>
            <a:normAutofit/>
          </a:bodyPr>
          <a:lstStyle/>
          <a:p>
            <a:r>
              <a:rPr lang="sk-SK" sz="3600" dirty="0"/>
              <a:t>Návrh riadenia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0DB2B4D8-227E-BA54-E32C-CE12836EF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50" y="2160016"/>
                <a:ext cx="6400999" cy="3601212"/>
              </a:xfrm>
            </p:spPr>
            <p:txBody>
              <a:bodyPr>
                <a:normAutofit/>
              </a:bodyPr>
              <a:lstStyle/>
              <a:p>
                <a:r>
                  <a:rPr lang="sk-SK" dirty="0">
                    <a:solidFill>
                      <a:schemeClr val="tx1"/>
                    </a:solidFill>
                  </a:rPr>
                  <a:t>C</a:t>
                </a:r>
                <a:r>
                  <a:rPr lang="pt-BR" dirty="0">
                    <a:solidFill>
                      <a:schemeClr val="tx1"/>
                    </a:solidFill>
                  </a:rPr>
                  <a:t>ie</a:t>
                </a:r>
                <a:r>
                  <a:rPr lang="sk-SK" dirty="0">
                    <a:solidFill>
                      <a:schemeClr val="tx1"/>
                    </a:solidFill>
                  </a:rPr>
                  <a:t>ľ</a:t>
                </a:r>
                <a:r>
                  <a:rPr lang="pt-BR" dirty="0">
                    <a:solidFill>
                      <a:schemeClr val="tx1"/>
                    </a:solidFill>
                  </a:rPr>
                  <a:t>om riadenia je vynulova</a:t>
                </a:r>
                <a:r>
                  <a:rPr lang="sk-SK" dirty="0">
                    <a:solidFill>
                      <a:schemeClr val="tx1"/>
                    </a:solidFill>
                  </a:rPr>
                  <a:t>ť</a:t>
                </a:r>
                <a:r>
                  <a:rPr lang="pt-BR" dirty="0">
                    <a:solidFill>
                      <a:schemeClr val="tx1"/>
                    </a:solidFill>
                  </a:rPr>
                  <a:t> regula</a:t>
                </a:r>
                <a:r>
                  <a:rPr lang="sk-SK" dirty="0">
                    <a:solidFill>
                      <a:schemeClr val="tx1"/>
                    </a:solidFill>
                  </a:rPr>
                  <a:t>č</a:t>
                </a:r>
                <a:r>
                  <a:rPr lang="pt-BR" dirty="0">
                    <a:solidFill>
                      <a:schemeClr val="tx1"/>
                    </a:solidFill>
                  </a:rPr>
                  <a:t>nú odchýlku </a:t>
                </a:r>
                <a14:m>
                  <m:oMath xmlns:m="http://schemas.openxmlformats.org/officeDocument/2006/math">
                    <m:r>
                      <a:rPr lang="sk-SK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, t. j. </a:t>
                </a:r>
                <a14:m>
                  <m:oMath xmlns:m="http://schemas.openxmlformats.org/officeDocument/2006/math"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sk-S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 </a:t>
                </a:r>
                <a:endParaRPr lang="sk-SK" dirty="0">
                  <a:solidFill>
                    <a:schemeClr val="tx1"/>
                  </a:solidFill>
                </a:endParaRPr>
              </a:p>
              <a:p>
                <a:r>
                  <a:rPr lang="pt-BR" dirty="0">
                    <a:solidFill>
                      <a:schemeClr val="tx1"/>
                    </a:solidFill>
                  </a:rPr>
                  <a:t>Pre </a:t>
                </a:r>
                <a14:m>
                  <m:oMath xmlns:m="http://schemas.openxmlformats.org/officeDocument/2006/math"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platí </a:t>
                </a:r>
                <a14:m>
                  <m:oMath xmlns:m="http://schemas.openxmlformats.org/officeDocument/2006/math">
                    <m:r>
                      <a:rPr lang="sk-SK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begChr m:val="|"/>
                        <m:endChr m:val="|"/>
                        <m:ctrlPr>
                          <a:rPr lang="sk-S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sk-SK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sk-S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k-SK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k-SK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sk-SK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k-SK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sk-SK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sk-SK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sk-SK" dirty="0">
                    <a:solidFill>
                      <a:schemeClr val="tx1"/>
                    </a:solidFill>
                  </a:rPr>
                  <a:t>čiže </a:t>
                </a:r>
                <a:r>
                  <a:rPr lang="pt-BR" dirty="0">
                    <a:solidFill>
                      <a:schemeClr val="tx1"/>
                    </a:solidFill>
                  </a:rPr>
                  <a:t>chceme aby dvojica </a:t>
                </a:r>
                <a14:m>
                  <m:oMath xmlns:m="http://schemas.openxmlformats.org/officeDocument/2006/math"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̇"/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sSub>
                      <m:sSub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sk-S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pt-BR" dirty="0">
                    <a:solidFill>
                      <a:schemeClr val="tx1"/>
                    </a:solidFill>
                  </a:rPr>
                  <a:t>bola z mno</a:t>
                </a:r>
                <a:r>
                  <a:rPr lang="sk-SK" dirty="0">
                    <a:solidFill>
                      <a:schemeClr val="tx1"/>
                    </a:solidFill>
                  </a:rPr>
                  <a:t>ž</a:t>
                </a:r>
                <a:r>
                  <a:rPr lang="pt-BR" dirty="0">
                    <a:solidFill>
                      <a:schemeClr val="tx1"/>
                    </a:solidFill>
                  </a:rPr>
                  <a:t>iny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k-S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sk-SK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k-SK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sk-S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0DB2B4D8-227E-BA54-E32C-CE12836EF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2160016"/>
                <a:ext cx="6400999" cy="3601212"/>
              </a:xfrm>
              <a:blipFill>
                <a:blip r:embed="rId2"/>
                <a:stretch>
                  <a:fillRect l="-1333" t="-135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7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ázok 3" descr="Obrázok, na ktorom je diagram, rad, vývoj, číslo&#10;&#10;Automaticky generovaný popis">
            <a:extLst>
              <a:ext uri="{FF2B5EF4-FFF2-40B4-BE49-F238E27FC236}">
                <a16:creationId xmlns:a16="http://schemas.microsoft.com/office/drawing/2014/main" id="{2F6C25E5-1907-E54E-69EB-4F9E9142F8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56" y="1129149"/>
            <a:ext cx="4002456" cy="459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9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8" name="Rectangle 15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0E0CCB4-E07E-96A9-ACAD-BD9F08A7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6400999" cy="1268984"/>
          </a:xfrm>
        </p:spPr>
        <p:txBody>
          <a:bodyPr>
            <a:normAutofit/>
          </a:bodyPr>
          <a:lstStyle/>
          <a:p>
            <a:r>
              <a:rPr lang="sk-SK"/>
              <a:t>Zákon riadenia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D35DBA17-CE6C-AF9F-0188-1F36A0BA7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50" y="2170407"/>
                <a:ext cx="6809072" cy="3601212"/>
              </a:xfrm>
            </p:spPr>
            <p:txBody>
              <a:bodyPr>
                <a:normAutofit/>
              </a:bodyPr>
              <a:lstStyle/>
              <a:p>
                <a:r>
                  <a:rPr lang="sk-SK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Chceme aby zákon riadenia spĺňal túto podmienku: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sk-SK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{"/>
                          <m:endChr m:val=""/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sk-SK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f>
                                <m:f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e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D35DBA17-CE6C-AF9F-0188-1F36A0BA7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2170407"/>
                <a:ext cx="6809072" cy="3601212"/>
              </a:xfrm>
              <a:blipFill>
                <a:blip r:embed="rId3"/>
                <a:stretch>
                  <a:fillRect l="-1253" t="-135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2ACBB827-9A2D-D449-9686-F47D2A20E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79" name="Freeform 21">
              <a:extLst>
                <a:ext uri="{FF2B5EF4-FFF2-40B4-BE49-F238E27FC236}">
                  <a16:creationId xmlns:a16="http://schemas.microsoft.com/office/drawing/2014/main" id="{9B921EC8-AD62-E940-80A2-682AC710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0" name="Freeform 23">
              <a:extLst>
                <a:ext uri="{FF2B5EF4-FFF2-40B4-BE49-F238E27FC236}">
                  <a16:creationId xmlns:a16="http://schemas.microsoft.com/office/drawing/2014/main" id="{6DBDC735-9A9C-6340-B1E4-3576B27ED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1" name="Freeform 25">
              <a:extLst>
                <a:ext uri="{FF2B5EF4-FFF2-40B4-BE49-F238E27FC236}">
                  <a16:creationId xmlns:a16="http://schemas.microsoft.com/office/drawing/2014/main" id="{E3F399C2-198A-1347-8B48-1B1D508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2" name="Freeform 26">
              <a:extLst>
                <a:ext uri="{FF2B5EF4-FFF2-40B4-BE49-F238E27FC236}">
                  <a16:creationId xmlns:a16="http://schemas.microsoft.com/office/drawing/2014/main" id="{4AB3593B-CA05-1845-839E-90B9B70EC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Obrázok 4" descr="Obrázok, na ktorom je diagram, vývoj, rad, číslo&#10;&#10;Automaticky generovaný popis">
            <a:extLst>
              <a:ext uri="{FF2B5EF4-FFF2-40B4-BE49-F238E27FC236}">
                <a16:creationId xmlns:a16="http://schemas.microsoft.com/office/drawing/2014/main" id="{1CDAD2FC-EA93-3C32-C6DB-2AC17514D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290" y="681647"/>
            <a:ext cx="2302377" cy="2631283"/>
          </a:xfrm>
          <a:prstGeom prst="rect">
            <a:avLst/>
          </a:prstGeom>
        </p:spPr>
      </p:pic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rázok 6" descr="Obrázok, na ktorom je diagram, rad, vývoj, text&#10;&#10;Automaticky generovaný popis">
            <a:extLst>
              <a:ext uri="{FF2B5EF4-FFF2-40B4-BE49-F238E27FC236}">
                <a16:creationId xmlns:a16="http://schemas.microsoft.com/office/drawing/2014/main" id="{2F5372FC-FC9A-93FF-98DD-439DCAFBAC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303" y="3545072"/>
            <a:ext cx="2294809" cy="262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2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E57BF6-C3DD-9CFE-6C5F-9E2742FE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130224" cy="1268984"/>
          </a:xfrm>
        </p:spPr>
        <p:txBody>
          <a:bodyPr>
            <a:normAutofit/>
          </a:bodyPr>
          <a:lstStyle/>
          <a:p>
            <a:r>
              <a:rPr lang="sk-SK" dirty="0"/>
              <a:t>Prepínacia funkcia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F537220C-40F4-ABA7-C6AE-81A686205B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50" y="2160016"/>
                <a:ext cx="10130224" cy="3601212"/>
              </a:xfrm>
            </p:spPr>
            <p:txBody>
              <a:bodyPr>
                <a:normAutofit/>
              </a:bodyPr>
              <a:lstStyle/>
              <a:p>
                <a:r>
                  <a:rPr lang="sk-SK" dirty="0"/>
                  <a:t>Funkciu </a:t>
                </a:r>
                <a14:m>
                  <m:oMath xmlns:m="http://schemas.openxmlformats.org/officeDocument/2006/math">
                    <m:r>
                      <a:rPr lang="sk-SK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sk-SK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acc>
                      <m:accPr>
                        <m:chr m:val="̇"/>
                        <m:ctrlPr>
                          <a:rPr lang="sk-SK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sk-SK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sk-SK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  <m:d>
                      <m:dPr>
                        <m:ctrlPr>
                          <a:rPr lang="sk-SK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sk-SK" dirty="0"/>
                  <a:t> nazveme prepínacou funkciou, pretože sa zrýchlenie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sk-SK" dirty="0"/>
                  <a:t> prepína na základe znamienka funkcie </a:t>
                </a:r>
                <a14:m>
                  <m:oMath xmlns:m="http://schemas.openxmlformats.org/officeDocument/2006/math">
                    <m:r>
                      <a:rPr lang="sk-SK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sk-S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sk-SK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{"/>
                          <m:endChr m:val=""/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sk-SK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0&gt;−</m:t>
                              </m:r>
                              <m:acc>
                                <m:accPr>
                                  <m:chr m:val="̇"/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e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0≤−</m:t>
                              </m:r>
                              <m:acc>
                                <m:accPr>
                                  <m:chr m:val="̇"/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F537220C-40F4-ABA7-C6AE-81A686205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2160016"/>
                <a:ext cx="10130224" cy="3601212"/>
              </a:xfrm>
              <a:blipFill>
                <a:blip r:embed="rId2"/>
                <a:stretch>
                  <a:fillRect l="-843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A30B600-877F-7746-B57D-25C3B476F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2C3F9BC4-CA61-1545-AFCA-2998DE0A8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6DF9667B-A221-FF48-BE03-0BCECE027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45">
              <a:extLst>
                <a:ext uri="{FF2B5EF4-FFF2-40B4-BE49-F238E27FC236}">
                  <a16:creationId xmlns:a16="http://schemas.microsoft.com/office/drawing/2014/main" id="{B043781C-7B99-5E41-ACB6-43554D9E3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24D64776-7D03-D04E-9D4F-4913424D1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84D49EAC-E325-E74E-9875-A5B09696F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A82CBB5F-9CE4-9F41-828D-030FF74ABE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E2AC807-9FDE-674F-84BF-EC319D68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747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1718817-D54E-698E-F128-F8D780F3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9198761" cy="1268984"/>
          </a:xfrm>
        </p:spPr>
        <p:txBody>
          <a:bodyPr>
            <a:normAutofit/>
          </a:bodyPr>
          <a:lstStyle/>
          <a:p>
            <a:r>
              <a:rPr lang="sk-SK" dirty="0"/>
              <a:t>Riadenie systému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CCF3E1D9-9B7E-84EC-6AF3-E8FAAAB7C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50" y="2160016"/>
                <a:ext cx="9198761" cy="3601212"/>
              </a:xfrm>
            </p:spPr>
            <p:txBody>
              <a:bodyPr>
                <a:normAutofit/>
              </a:bodyPr>
              <a:lstStyle/>
              <a:p>
                <a:r>
                  <a:rPr lang="sk-SK" dirty="0">
                    <a:effectLst/>
                    <a:latin typeface="Neue Haas Grotesk Text Pro (Text)"/>
                    <a:ea typeface="Times New Roman" panose="02020603050405020304" pitchFamily="18" charset="0"/>
                  </a:rPr>
                  <a:t>Z doterajších poznatkov vieme určiť riadenie systému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|"/>
                          <m:endChr m:val="|"/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sk-SK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f>
                        <m:fPr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k-SK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sk-SK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r>
                        <a:rPr lang="sk-SK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k-SK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r>
                        <a:rPr lang="sk-SK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sk-SK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sk-SK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d>
                        <m:dPr>
                          <m:begChr m:val="{"/>
                          <m:endChr m:val=""/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sk-SK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&gt;−</m:t>
                              </m:r>
                              <m:acc>
                                <m:accPr>
                                  <m:chr m:val="̇"/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e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≤−</m:t>
                              </m:r>
                              <m:acc>
                                <m:accPr>
                                  <m:chr m:val="̇"/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k-SK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CCF3E1D9-9B7E-84EC-6AF3-E8FAAAB7C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2160016"/>
                <a:ext cx="9198761" cy="3601212"/>
              </a:xfrm>
              <a:blipFill>
                <a:blip r:embed="rId2"/>
                <a:stretch>
                  <a:fillRect l="-928" t="-135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9">
            <a:extLst>
              <a:ext uri="{FF2B5EF4-FFF2-40B4-BE49-F238E27FC236}">
                <a16:creationId xmlns:a16="http://schemas.microsoft.com/office/drawing/2014/main" id="{BA7C2670-8081-9C42-82A1-23BBFAEA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919876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11">
            <a:extLst>
              <a:ext uri="{FF2B5EF4-FFF2-40B4-BE49-F238E27FC236}">
                <a16:creationId xmlns:a16="http://schemas.microsoft.com/office/drawing/2014/main" id="{75BEF7CB-BB00-3345-8542-8F0FAFE1C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41" name="Oval 12">
              <a:extLst>
                <a:ext uri="{FF2B5EF4-FFF2-40B4-BE49-F238E27FC236}">
                  <a16:creationId xmlns:a16="http://schemas.microsoft.com/office/drawing/2014/main" id="{4E633967-4EB4-9A43-9984-7E0C7DCE8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80BB32CE-B79D-9449-AEBB-EC9F56A9A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AFE8EC8C-9217-6E47-ACFA-7B2148F1B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8BEA612E-5CC4-DA4D-8A68-059864439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59DC8CDB-7B92-E848-AA26-43105184E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876EC8B8-C9EB-A84A-858B-ADF81A5B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078C5DEE-08C1-D546-BF9B-933B8419E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661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938796E-D4C6-FB4D-A821-A4103F15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5995137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k-SK"/>
              <a:t>Riadenie s kĺzavým režimom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AAE69F48-B4F5-A2EF-2F93-2CB14AF783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50" y="2160016"/>
                <a:ext cx="5995137" cy="360121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sk-SK" dirty="0"/>
                  <a:t>Pomocou úprav a odvodení sme vyjadrili riadenie s kĺzavým režimom v tvare</a:t>
                </a:r>
                <a:endParaRPr lang="sk-SK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sk-SK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sk-SK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sk-SK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dirty="0"/>
                  <a:t>Kde</a:t>
                </a:r>
                <a:endParaRPr lang="sk-SK"/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k-SK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sk-SK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d>
                      <m:dPr>
                        <m:ctrlPr>
                          <a:rPr lang="sk-SK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  <m:d>
                          <m:dPr>
                            <m:begChr m:val="|"/>
                            <m:endChr m:val="|"/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̇"/>
                                <m:ctrlPr>
                                  <a:rPr lang="sk-SK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f>
                          <m:fPr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sk-SK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sk-SK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</m:oMath>
                </a14:m>
                <a:endParaRPr lang="sk-SK"/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k-SK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sk-SK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d>
                      <m:dPr>
                        <m:ctrlPr>
                          <a:rPr lang="sk-SK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  <m:d>
                          <m:dPr>
                            <m:begChr m:val="|"/>
                            <m:endChr m:val="|"/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̇"/>
                                <m:ctrlPr>
                                  <a:rPr lang="sk-SK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f>
                          <m:fPr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sk-SK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sk-SK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sk-SK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sk-SK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sk-SK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d>
                  </m:oMath>
                </a14:m>
                <a:endParaRPr lang="sk-SK"/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AAE69F48-B4F5-A2EF-2F93-2CB14AF783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2160016"/>
                <a:ext cx="5995137" cy="3601212"/>
              </a:xfrm>
              <a:blipFill>
                <a:blip r:embed="rId2"/>
                <a:stretch>
                  <a:fillRect l="-1424" t="-2369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25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1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ok 4">
            <a:extLst>
              <a:ext uri="{FF2B5EF4-FFF2-40B4-BE49-F238E27FC236}">
                <a16:creationId xmlns:a16="http://schemas.microsoft.com/office/drawing/2014/main" id="{7D1B3701-4E57-558A-8D07-C21456566D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514" y="1855599"/>
            <a:ext cx="5248980" cy="3146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0318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4759F69-2876-991F-3642-2B9141E3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6971113" cy="1268984"/>
          </a:xfrm>
        </p:spPr>
        <p:txBody>
          <a:bodyPr>
            <a:normAutofit fontScale="90000"/>
          </a:bodyPr>
          <a:lstStyle/>
          <a:p>
            <a:r>
              <a:rPr lang="sk-SK" dirty="0"/>
              <a:t>Oscilácia pri riadení s kĺzavým režimom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87B48E02-87E2-5C0D-2384-67434C9D5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50" y="2160016"/>
                <a:ext cx="5995137" cy="3601212"/>
              </a:xfrm>
            </p:spPr>
            <p:txBody>
              <a:bodyPr>
                <a:normAutofit/>
              </a:bodyPr>
              <a:lstStyle/>
              <a:p>
                <a:r>
                  <a:rPr lang="sk-SK" dirty="0">
                    <a:latin typeface="+mj-lt"/>
                  </a:rPr>
                  <a:t>Na obrázku môžeme vidieť akčný zásah, ktorý začne oscilovať keď stavový vektor dosiahne priamku </a:t>
                </a:r>
                <a14:m>
                  <m:oMath xmlns:m="http://schemas.openxmlformats.org/officeDocument/2006/math">
                    <m:r>
                      <a:rPr lang="sk-SK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sk-SK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sk-SK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sk-SK" dirty="0">
                  <a:latin typeface="+mj-lt"/>
                </a:endParaRPr>
              </a:p>
              <a:p>
                <a:r>
                  <a:rPr lang="sk-SK" dirty="0">
                    <a:latin typeface="+mj-lt"/>
                  </a:rPr>
                  <a:t>Toto z hľadiska reálnej aplikácie nie je vhodné, pretože takýto systém by zaťažoval mechanické časti motora a prevodovky</a:t>
                </a:r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87B48E02-87E2-5C0D-2384-67434C9D5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2160016"/>
                <a:ext cx="5995137" cy="3601212"/>
              </a:xfrm>
              <a:blipFill>
                <a:blip r:embed="rId2"/>
                <a:stretch>
                  <a:fillRect l="-1424" t="-135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ázok 3">
            <a:extLst>
              <a:ext uri="{FF2B5EF4-FFF2-40B4-BE49-F238E27FC236}">
                <a16:creationId xmlns:a16="http://schemas.microsoft.com/office/drawing/2014/main" id="{F8CFB0A6-A79D-E0B4-08B6-5C8BCEF1B3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31484" y="1855600"/>
            <a:ext cx="5244671" cy="3146800"/>
          </a:xfrm>
          <a:prstGeom prst="rect">
            <a:avLst/>
          </a:prstGeom>
          <a:noFill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80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1B97C-8D32-67D5-0F8C-3DEEF4BE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0A944-E65F-67AC-9734-0A7CC6DF0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D1B6FFF-48F2-7FF5-C58D-ED9CC1E0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6448598" cy="826797"/>
          </a:xfrm>
        </p:spPr>
        <p:txBody>
          <a:bodyPr>
            <a:normAutofit/>
          </a:bodyPr>
          <a:lstStyle/>
          <a:p>
            <a:r>
              <a:rPr lang="sk-SK" sz="3600" dirty="0"/>
              <a:t>Typy navrhnutých riadení</a:t>
            </a:r>
            <a:endParaRPr lang="sk-SK" sz="37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67FA8-DDDF-B325-86C2-327F205B3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85">
              <a:extLst>
                <a:ext uri="{FF2B5EF4-FFF2-40B4-BE49-F238E27FC236}">
                  <a16:creationId xmlns:a16="http://schemas.microsoft.com/office/drawing/2014/main" id="{56E48DC1-9EB5-41D7-B96C-69B075C3D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87">
              <a:extLst>
                <a:ext uri="{FF2B5EF4-FFF2-40B4-BE49-F238E27FC236}">
                  <a16:creationId xmlns:a16="http://schemas.microsoft.com/office/drawing/2014/main" id="{829FB711-82F4-AE34-2D45-05C8A0FBA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9">
              <a:extLst>
                <a:ext uri="{FF2B5EF4-FFF2-40B4-BE49-F238E27FC236}">
                  <a16:creationId xmlns:a16="http://schemas.microsoft.com/office/drawing/2014/main" id="{76C659FD-891F-C1BA-E640-62443D34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97">
              <a:extLst>
                <a:ext uri="{FF2B5EF4-FFF2-40B4-BE49-F238E27FC236}">
                  <a16:creationId xmlns:a16="http://schemas.microsoft.com/office/drawing/2014/main" id="{F1370DA7-699A-A99D-489D-AE201DA38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293A80-3D85-1850-BA18-2040E6CCC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ástupný text 2">
            <a:extLst>
              <a:ext uri="{FF2B5EF4-FFF2-40B4-BE49-F238E27FC236}">
                <a16:creationId xmlns:a16="http://schemas.microsoft.com/office/drawing/2014/main" id="{A417772D-5354-D02C-3181-AB0032E43146}"/>
              </a:ext>
            </a:extLst>
          </p:cNvPr>
          <p:cNvSpPr txBox="1">
            <a:spLocks/>
          </p:cNvSpPr>
          <p:nvPr/>
        </p:nvSpPr>
        <p:spPr>
          <a:xfrm>
            <a:off x="562149" y="1631954"/>
            <a:ext cx="5239512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k-SK" b="1" dirty="0">
                <a:latin typeface="+mj-lt"/>
                <a:ea typeface="Times New Roman" panose="02020603050405020304" pitchFamily="18" charset="0"/>
              </a:rPr>
              <a:t>Riadenie s kĺzavým režimom</a:t>
            </a:r>
            <a:endParaRPr lang="sk-SK" b="1" dirty="0">
              <a:latin typeface="+mj-lt"/>
            </a:endParaRPr>
          </a:p>
        </p:txBody>
      </p:sp>
      <p:sp>
        <p:nvSpPr>
          <p:cNvPr id="8" name="Zástupný text 4">
            <a:extLst>
              <a:ext uri="{FF2B5EF4-FFF2-40B4-BE49-F238E27FC236}">
                <a16:creationId xmlns:a16="http://schemas.microsoft.com/office/drawing/2014/main" id="{72560002-6F15-A69B-DCE1-0FC1CAAD3A8F}"/>
              </a:ext>
            </a:extLst>
          </p:cNvPr>
          <p:cNvSpPr txBox="1">
            <a:spLocks/>
          </p:cNvSpPr>
          <p:nvPr/>
        </p:nvSpPr>
        <p:spPr>
          <a:xfrm>
            <a:off x="6159352" y="1631954"/>
            <a:ext cx="5674956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k-SK" b="1" dirty="0">
                <a:latin typeface="+mj-lt"/>
                <a:ea typeface="Times New Roman" panose="02020603050405020304" pitchFamily="18" charset="0"/>
              </a:rPr>
              <a:t>Riadenie s </a:t>
            </a:r>
            <a:r>
              <a:rPr lang="sk-SK" b="1" dirty="0" err="1">
                <a:latin typeface="+mj-lt"/>
                <a:ea typeface="Times New Roman" panose="02020603050405020304" pitchFamily="18" charset="0"/>
              </a:rPr>
              <a:t>kvázikĺzavým</a:t>
            </a:r>
            <a:r>
              <a:rPr lang="sk-SK" b="1" dirty="0">
                <a:latin typeface="+mj-lt"/>
                <a:ea typeface="Times New Roman" panose="02020603050405020304" pitchFamily="18" charset="0"/>
              </a:rPr>
              <a:t> režimom</a:t>
            </a:r>
            <a:endParaRPr lang="sk-SK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BlokTextu 17">
                <a:extLst>
                  <a:ext uri="{FF2B5EF4-FFF2-40B4-BE49-F238E27FC236}">
                    <a16:creationId xmlns:a16="http://schemas.microsoft.com/office/drawing/2014/main" id="{3C6AF199-CFB4-4208-7610-5F1F4B28051C}"/>
                  </a:ext>
                </a:extLst>
              </p:cNvPr>
              <p:cNvSpPr txBox="1"/>
              <p:nvPr/>
            </p:nvSpPr>
            <p:spPr>
              <a:xfrm>
                <a:off x="1383062" y="4649057"/>
                <a:ext cx="3598164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sk-SK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sk-SK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sk-SK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sk-SK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ak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  <m:r>
                                <a:rPr lang="sk-SK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18" name="BlokTextu 17">
                <a:extLst>
                  <a:ext uri="{FF2B5EF4-FFF2-40B4-BE49-F238E27FC236}">
                    <a16:creationId xmlns:a16="http://schemas.microsoft.com/office/drawing/2014/main" id="{3C6AF199-CFB4-4208-7610-5F1F4B280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62" y="4649057"/>
                <a:ext cx="3598164" cy="710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BlokTextu 18">
                <a:extLst>
                  <a:ext uri="{FF2B5EF4-FFF2-40B4-BE49-F238E27FC236}">
                    <a16:creationId xmlns:a16="http://schemas.microsoft.com/office/drawing/2014/main" id="{3F9656CD-794A-6991-DBC9-638CB99D2364}"/>
                  </a:ext>
                </a:extLst>
              </p:cNvPr>
              <p:cNvSpPr txBox="1"/>
              <p:nvPr/>
            </p:nvSpPr>
            <p:spPr>
              <a:xfrm>
                <a:off x="7210776" y="4649057"/>
                <a:ext cx="3598164" cy="2028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sk-SK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sk-SK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k-SK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ak</m:t>
                                </m:r>
                                <m: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&lt;−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ak</m:t>
                                </m:r>
                                <m: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sk-SK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k-SK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sk-SK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sk-SK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δ</m:t>
                                    </m:r>
                                  </m:den>
                                </m:f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ak</m:t>
                                </m:r>
                                <m: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sk-SK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k-SK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sk-SK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sk-SK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sk-SK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δ</m:t>
                                    </m:r>
                                  </m:den>
                                </m:f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ak</m:t>
                                </m:r>
                                <m: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−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ak</m:t>
                                </m:r>
                                <m:r>
                                  <a:rPr lang="sk-SK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sk-SK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19" name="BlokTextu 18">
                <a:extLst>
                  <a:ext uri="{FF2B5EF4-FFF2-40B4-BE49-F238E27FC236}">
                    <a16:creationId xmlns:a16="http://schemas.microsoft.com/office/drawing/2014/main" id="{3F9656CD-794A-6991-DBC9-638CB99D2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776" y="4649057"/>
                <a:ext cx="3598164" cy="20280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rázok 2">
            <a:extLst>
              <a:ext uri="{FF2B5EF4-FFF2-40B4-BE49-F238E27FC236}">
                <a16:creationId xmlns:a16="http://schemas.microsoft.com/office/drawing/2014/main" id="{450DD5FE-9935-FB85-362D-322EFB1A2A3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205" y="2278881"/>
            <a:ext cx="3602355" cy="215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B7CA444C-24EB-5E86-79DB-E0443509157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864" y="2278880"/>
            <a:ext cx="3602355" cy="2159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197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4CD8791-ED67-4BC7-13F6-15EB9C905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227913" cy="3601212"/>
          </a:xfrm>
        </p:spPr>
        <p:txBody>
          <a:bodyPr>
            <a:normAutofit/>
          </a:bodyPr>
          <a:lstStyle/>
          <a:p>
            <a:r>
              <a:rPr lang="sk-SK" sz="2000" dirty="0"/>
              <a:t>Na obrázku môžeme vidieť, že tak ako sme predpokladali prechodové pásmo </a:t>
            </a:r>
            <a:r>
              <a:rPr lang="el-GR" sz="2000" dirty="0"/>
              <a:t>δ </a:t>
            </a:r>
            <a:r>
              <a:rPr lang="sk-SK" sz="2000" dirty="0"/>
              <a:t>vyriešilo problém s osciláciou</a:t>
            </a:r>
          </a:p>
          <a:p>
            <a:r>
              <a:rPr lang="sk-SK" sz="2000" dirty="0"/>
              <a:t>Je nutné zvoliť dostatočne veľkú hodnotu </a:t>
            </a:r>
            <a:r>
              <a:rPr lang="el-GR" sz="2000" dirty="0"/>
              <a:t>δ</a:t>
            </a:r>
            <a:r>
              <a:rPr lang="sk-SK" sz="2000" dirty="0"/>
              <a:t>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9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Nadpis 1">
            <a:extLst>
              <a:ext uri="{FF2B5EF4-FFF2-40B4-BE49-F238E27FC236}">
                <a16:creationId xmlns:a16="http://schemas.microsoft.com/office/drawing/2014/main" id="{6E9FD74F-AADB-318C-21F9-71159B0C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2" y="770890"/>
            <a:ext cx="9725164" cy="1268984"/>
          </a:xfrm>
        </p:spPr>
        <p:txBody>
          <a:bodyPr>
            <a:normAutofit fontScale="90000"/>
          </a:bodyPr>
          <a:lstStyle/>
          <a:p>
            <a:r>
              <a:rPr lang="sk-SK" sz="4000" dirty="0"/>
              <a:t>Vplyv šírky prechodového pásma na akčný zásah</a:t>
            </a:r>
            <a:endParaRPr lang="sk-SK" sz="3700" dirty="0"/>
          </a:p>
        </p:txBody>
      </p:sp>
      <p:pic>
        <p:nvPicPr>
          <p:cNvPr id="2" name="Obrázok 1">
            <a:extLst>
              <a:ext uri="{FF2B5EF4-FFF2-40B4-BE49-F238E27FC236}">
                <a16:creationId xmlns:a16="http://schemas.microsoft.com/office/drawing/2014/main" id="{2E8F568A-ECDC-C10A-992B-035FFAE339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130" y="1504173"/>
            <a:ext cx="6425909" cy="38496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1684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509352-08E0-B1E0-1E67-AB0F6027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10534109" cy="1268984"/>
          </a:xfrm>
        </p:spPr>
        <p:txBody>
          <a:bodyPr>
            <a:normAutofit fontScale="90000"/>
          </a:bodyPr>
          <a:lstStyle/>
          <a:p>
            <a:r>
              <a:rPr lang="sk-SK" sz="4000" dirty="0"/>
              <a:t>Vplyv šírky prechodového pásma na presnosť riadenia</a:t>
            </a:r>
            <a:endParaRPr lang="sk-SK" sz="37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2CFAC5C-2361-0AFC-06D8-75F1970FF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k-SK" sz="2000" dirty="0"/>
              <a:t>Na obrázku je jasne vidieť, že čím väčšie je </a:t>
            </a:r>
            <a:r>
              <a:rPr lang="el-GR" sz="2000" dirty="0"/>
              <a:t>δ </a:t>
            </a:r>
            <a:r>
              <a:rPr lang="sk-SK" sz="2000" dirty="0"/>
              <a:t>tým je riadenie nepresnejšie</a:t>
            </a:r>
          </a:p>
          <a:p>
            <a:pPr>
              <a:lnSpc>
                <a:spcPct val="90000"/>
              </a:lnSpc>
            </a:pPr>
            <a:r>
              <a:rPr lang="sk-SK" sz="2000" dirty="0"/>
              <a:t>Zväčšovanie </a:t>
            </a:r>
            <a:r>
              <a:rPr lang="el-GR" sz="2000" dirty="0"/>
              <a:t>δ </a:t>
            </a:r>
            <a:r>
              <a:rPr lang="sk-SK" sz="2000" dirty="0"/>
              <a:t>má za následok to že sa skreslí akčný zásah na väčšom intervale </a:t>
            </a:r>
            <a:r>
              <a:rPr lang="el-GR" sz="2000" dirty="0"/>
              <a:t>σ, </a:t>
            </a:r>
            <a:r>
              <a:rPr lang="sk-SK" sz="2000" dirty="0"/>
              <a:t>čo riadenie robí menej presným</a:t>
            </a:r>
          </a:p>
          <a:p>
            <a:pPr>
              <a:lnSpc>
                <a:spcPct val="90000"/>
              </a:lnSpc>
            </a:pPr>
            <a:r>
              <a:rPr lang="sk-SK" sz="2000" dirty="0"/>
              <a:t>Parameter </a:t>
            </a:r>
            <a:r>
              <a:rPr lang="el-GR" sz="2000" dirty="0"/>
              <a:t>δ </a:t>
            </a:r>
            <a:r>
              <a:rPr lang="sk-SK" sz="2000" dirty="0"/>
              <a:t>je nutné zvoliť tak, aby akčný zásah neosciloval, ale aby riadenie bolo čo najpresnejšie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4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ázok 3">
            <a:extLst>
              <a:ext uri="{FF2B5EF4-FFF2-40B4-BE49-F238E27FC236}">
                <a16:creationId xmlns:a16="http://schemas.microsoft.com/office/drawing/2014/main" id="{216637A5-5483-C409-638E-5EE631DA6A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465" y="1539120"/>
            <a:ext cx="6367574" cy="38147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4354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5B5F8-86A9-E811-206D-1DCF2B65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3AF47A-7AAB-435F-D246-4056F0CE9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5996B1-4A0D-F4CF-273F-D20DB9822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10855888" cy="826797"/>
          </a:xfrm>
        </p:spPr>
        <p:txBody>
          <a:bodyPr>
            <a:normAutofit/>
          </a:bodyPr>
          <a:lstStyle/>
          <a:p>
            <a:r>
              <a:rPr lang="sk-SK" sz="3600" dirty="0"/>
              <a:t>Experimentálne overenie funkčnosti riadenia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3AFB50-6AC2-FA28-002D-BE6E8163C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85">
              <a:extLst>
                <a:ext uri="{FF2B5EF4-FFF2-40B4-BE49-F238E27FC236}">
                  <a16:creationId xmlns:a16="http://schemas.microsoft.com/office/drawing/2014/main" id="{1FC95159-55F7-4CA3-F78B-6C2CE142C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87">
              <a:extLst>
                <a:ext uri="{FF2B5EF4-FFF2-40B4-BE49-F238E27FC236}">
                  <a16:creationId xmlns:a16="http://schemas.microsoft.com/office/drawing/2014/main" id="{AF25339D-BEAA-0A0D-F906-77ED598B8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9">
              <a:extLst>
                <a:ext uri="{FF2B5EF4-FFF2-40B4-BE49-F238E27FC236}">
                  <a16:creationId xmlns:a16="http://schemas.microsoft.com/office/drawing/2014/main" id="{FBCBC9CA-88D4-9A91-1A76-85FEFF7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97">
              <a:extLst>
                <a:ext uri="{FF2B5EF4-FFF2-40B4-BE49-F238E27FC236}">
                  <a16:creationId xmlns:a16="http://schemas.microsoft.com/office/drawing/2014/main" id="{3975EE06-9C39-2151-6709-6BF0916CA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7A4C51-833C-7269-3687-0F9D90153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ástupný text 2">
            <a:extLst>
              <a:ext uri="{FF2B5EF4-FFF2-40B4-BE49-F238E27FC236}">
                <a16:creationId xmlns:a16="http://schemas.microsoft.com/office/drawing/2014/main" id="{726BFB97-EF0E-2337-CC70-F6809A7E8034}"/>
              </a:ext>
            </a:extLst>
          </p:cNvPr>
          <p:cNvSpPr txBox="1">
            <a:spLocks/>
          </p:cNvSpPr>
          <p:nvPr/>
        </p:nvSpPr>
        <p:spPr>
          <a:xfrm>
            <a:off x="562149" y="1631954"/>
            <a:ext cx="5239512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k-SK" b="1" dirty="0">
                <a:latin typeface="+mj-lt"/>
                <a:ea typeface="Times New Roman" panose="02020603050405020304" pitchFamily="18" charset="0"/>
              </a:rPr>
              <a:t>Trajektória systému</a:t>
            </a:r>
            <a:endParaRPr lang="sk-SK" b="1" dirty="0">
              <a:latin typeface="+mj-lt"/>
            </a:endParaRPr>
          </a:p>
        </p:txBody>
      </p:sp>
      <p:sp>
        <p:nvSpPr>
          <p:cNvPr id="8" name="Zástupný text 4">
            <a:extLst>
              <a:ext uri="{FF2B5EF4-FFF2-40B4-BE49-F238E27FC236}">
                <a16:creationId xmlns:a16="http://schemas.microsoft.com/office/drawing/2014/main" id="{CDA6805C-784B-E348-E76D-D2827EEC1A40}"/>
              </a:ext>
            </a:extLst>
          </p:cNvPr>
          <p:cNvSpPr txBox="1">
            <a:spLocks/>
          </p:cNvSpPr>
          <p:nvPr/>
        </p:nvSpPr>
        <p:spPr>
          <a:xfrm>
            <a:off x="6159352" y="1631954"/>
            <a:ext cx="5674956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k-SK" b="1" dirty="0">
                <a:latin typeface="+mj-lt"/>
                <a:ea typeface="Times New Roman" panose="02020603050405020304" pitchFamily="18" charset="0"/>
              </a:rPr>
              <a:t>Polohy predného a zadného vozidla</a:t>
            </a:r>
            <a:endParaRPr lang="sk-SK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BlokTextu 17">
                <a:extLst>
                  <a:ext uri="{FF2B5EF4-FFF2-40B4-BE49-F238E27FC236}">
                    <a16:creationId xmlns:a16="http://schemas.microsoft.com/office/drawing/2014/main" id="{770639D2-E625-677D-088E-4B1185927B81}"/>
                  </a:ext>
                </a:extLst>
              </p:cNvPr>
              <p:cNvSpPr txBox="1"/>
              <p:nvPr/>
            </p:nvSpPr>
            <p:spPr>
              <a:xfrm>
                <a:off x="1383062" y="5231847"/>
                <a:ext cx="3598164" cy="91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sk-SK" dirty="0"/>
                        <m:t>Vid</m:t>
                      </m:r>
                      <m:r>
                        <m:rPr>
                          <m:nor/>
                        </m:rPr>
                        <a:rPr lang="sk-SK" dirty="0"/>
                        <m:t>í</m:t>
                      </m:r>
                      <m:r>
                        <m:rPr>
                          <m:nor/>
                        </m:rPr>
                        <a:rPr lang="sk-SK" dirty="0"/>
                        <m:t>me</m:t>
                      </m:r>
                      <m:r>
                        <m:rPr>
                          <m:nor/>
                        </m:rPr>
                        <a:rPr lang="sk-SK" dirty="0"/>
                        <m:t>, ž</m:t>
                      </m:r>
                      <m:r>
                        <m:rPr>
                          <m:nor/>
                        </m:rPr>
                        <a:rPr lang="sk-SK" dirty="0"/>
                        <m:t>e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to</m:t>
                      </m:r>
                      <m:r>
                        <m:rPr>
                          <m:nor/>
                        </m:rPr>
                        <a:rPr lang="sk-SK" dirty="0"/>
                        <m:t> č</m:t>
                      </m:r>
                      <m:r>
                        <m:rPr>
                          <m:nor/>
                        </m:rPr>
                        <a:rPr lang="sk-SK" dirty="0"/>
                        <m:t>o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sme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opisovali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pri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n</m:t>
                      </m:r>
                      <m:r>
                        <m:rPr>
                          <m:nor/>
                        </m:rPr>
                        <a:rPr lang="sk-SK" dirty="0"/>
                        <m:t>á</m:t>
                      </m:r>
                      <m:r>
                        <m:rPr>
                          <m:nor/>
                        </m:rPr>
                        <a:rPr lang="sk-SK" dirty="0"/>
                        <m:t>vrhu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riadenia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plat</m:t>
                      </m:r>
                      <m:r>
                        <m:rPr>
                          <m:nor/>
                        </m:rPr>
                        <a:rPr lang="sk-SK" dirty="0"/>
                        <m:t>í </m:t>
                      </m:r>
                      <m:r>
                        <m:rPr>
                          <m:nor/>
                        </m:rPr>
                        <a:rPr lang="sk-SK" dirty="0"/>
                        <m:t>a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teda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v</m:t>
                      </m:r>
                      <m:r>
                        <m:rPr>
                          <m:nor/>
                        </m:rPr>
                        <a:rPr lang="sk-SK" dirty="0"/>
                        <m:t>ý</m:t>
                      </m:r>
                      <m:r>
                        <m:rPr>
                          <m:nor/>
                        </m:rPr>
                        <a:rPr lang="sk-SK" dirty="0"/>
                        <m:t>sledok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je</m:t>
                      </m:r>
                      <m:r>
                        <m:rPr>
                          <m:nor/>
                        </m:rPr>
                        <a:rPr lang="sk-SK" dirty="0"/>
                        <m:t> </m:t>
                      </m:r>
                      <m:r>
                        <m:rPr>
                          <m:nor/>
                        </m:rPr>
                        <a:rPr lang="sk-SK" dirty="0"/>
                        <m:t>uspokojiv</m:t>
                      </m:r>
                      <m:r>
                        <m:rPr>
                          <m:nor/>
                        </m:rPr>
                        <a:rPr lang="sk-SK" dirty="0"/>
                        <m:t>ý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18" name="BlokTextu 17">
                <a:extLst>
                  <a:ext uri="{FF2B5EF4-FFF2-40B4-BE49-F238E27FC236}">
                    <a16:creationId xmlns:a16="http://schemas.microsoft.com/office/drawing/2014/main" id="{770639D2-E625-677D-088E-4B1185927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62" y="5231847"/>
                <a:ext cx="3598164" cy="910634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BlokTextu 18">
            <a:extLst>
              <a:ext uri="{FF2B5EF4-FFF2-40B4-BE49-F238E27FC236}">
                <a16:creationId xmlns:a16="http://schemas.microsoft.com/office/drawing/2014/main" id="{CD67591B-F127-2A9E-76CA-DECAB7B1BF27}"/>
              </a:ext>
            </a:extLst>
          </p:cNvPr>
          <p:cNvSpPr txBox="1"/>
          <p:nvPr/>
        </p:nvSpPr>
        <p:spPr>
          <a:xfrm>
            <a:off x="7493292" y="5192572"/>
            <a:ext cx="35981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Ako vidíme aj tento priebeh spĺňa našu predpoveď keďže sa rozostup s malými odchýlkami udržuje až do konca</a:t>
            </a:r>
          </a:p>
          <a:p>
            <a:endParaRPr lang="sk-SK" dirty="0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EED5AC40-9210-BB52-E606-A148819832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8" y="2221545"/>
            <a:ext cx="4885373" cy="293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994B4F28-F9ED-4B4A-A8AA-1BEAE816AA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860" y="2222062"/>
            <a:ext cx="4885373" cy="29307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891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F7E646-EE1E-74B4-F81C-1E0041CE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Rozšírenie </a:t>
            </a:r>
            <a:r>
              <a:rPr lang="sk-SK" dirty="0" err="1"/>
              <a:t>tempomatu</a:t>
            </a:r>
            <a:endParaRPr lang="sk-SK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E030A05-32C5-4480-786F-C2E49B2A0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Fixná rezerva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A9CE32F-0398-200E-56BC-9FDCABCDA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sk-SK" dirty="0"/>
              <a:t>Obmedzenie hnacej sily na základe maximálneho výkonu </a:t>
            </a:r>
            <a:r>
              <a:rPr lang="sk-SK" i="1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BlokTextu 6">
                <a:extLst>
                  <a:ext uri="{FF2B5EF4-FFF2-40B4-BE49-F238E27FC236}">
                    <a16:creationId xmlns:a16="http://schemas.microsoft.com/office/drawing/2014/main" id="{B6FEEB35-36EA-6909-1BBB-A8F449C83B39}"/>
                  </a:ext>
                </a:extLst>
              </p:cNvPr>
              <p:cNvSpPr txBox="1"/>
              <p:nvPr/>
            </p:nvSpPr>
            <p:spPr>
              <a:xfrm>
                <a:off x="133151" y="4169080"/>
                <a:ext cx="6097508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k-SK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sk-SK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sk-SK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sk-S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k-SK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d>
                        <m:dPr>
                          <m:ctrlPr>
                            <a:rPr lang="sk-SK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sk-SK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k-SK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k-SK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sk-SK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sk-SK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sk-SK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k-SK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sk-SK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BlokTextu 6">
                <a:extLst>
                  <a:ext uri="{FF2B5EF4-FFF2-40B4-BE49-F238E27FC236}">
                    <a16:creationId xmlns:a16="http://schemas.microsoft.com/office/drawing/2014/main" id="{B6FEEB35-36EA-6909-1BBB-A8F449C83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51" y="4169080"/>
                <a:ext cx="6097508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BlokTextu 7">
                <a:extLst>
                  <a:ext uri="{FF2B5EF4-FFF2-40B4-BE49-F238E27FC236}">
                    <a16:creationId xmlns:a16="http://schemas.microsoft.com/office/drawing/2014/main" id="{8227F00C-E59E-EEAE-6FB3-74B7854C2AC4}"/>
                  </a:ext>
                </a:extLst>
              </p:cNvPr>
              <p:cNvSpPr txBox="1"/>
              <p:nvPr/>
            </p:nvSpPr>
            <p:spPr>
              <a:xfrm>
                <a:off x="7497410" y="4859397"/>
                <a:ext cx="3010824" cy="7194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sk-SK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sk-SK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sk-SK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𝑎𝑘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k-S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sk-SK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sk-SK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sk-SK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𝑚𝑖𝑛𝑚𝑎𝑥</m:t>
                                  </m:r>
                                </m:sub>
                              </m:sSub>
                            </m:e>
                            <m:e>
                              <m:func>
                                <m:funcPr>
                                  <m:ctrlP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sk-SK" b="0" i="0" smtClean="0">
                                      <a:latin typeface="Cambria Math" panose="02040503050406030204" pitchFamily="18" charset="0"/>
                                    </a:rPr>
                                    <m:t>sgn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sk-S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k-SK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k-SK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sk-SK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sSub>
                                <m:sSubPr>
                                  <m:ctrlP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sk-SK" b="0" i="1" smtClean="0">
                                      <a:latin typeface="Cambria Math" panose="02040503050406030204" pitchFamily="18" charset="0"/>
                                    </a:rPr>
                                    <m:t>𝑚𝑖𝑛𝑚𝑎𝑥</m:t>
                                  </m:r>
                                </m:sub>
                              </m:s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𝑖𝑛𝑎𝑘</m:t>
                              </m:r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BlokTextu 7">
                <a:extLst>
                  <a:ext uri="{FF2B5EF4-FFF2-40B4-BE49-F238E27FC236}">
                    <a16:creationId xmlns:a16="http://schemas.microsoft.com/office/drawing/2014/main" id="{8227F00C-E59E-EEAE-6FB3-74B7854C2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410" y="4859397"/>
                <a:ext cx="3010824" cy="7194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BlokTextu 8">
                <a:extLst>
                  <a:ext uri="{FF2B5EF4-FFF2-40B4-BE49-F238E27FC236}">
                    <a16:creationId xmlns:a16="http://schemas.microsoft.com/office/drawing/2014/main" id="{33AA27EC-BB99-7EA1-504C-4FED9601A0DD}"/>
                  </a:ext>
                </a:extLst>
              </p:cNvPr>
              <p:cNvSpPr txBox="1"/>
              <p:nvPr/>
            </p:nvSpPr>
            <p:spPr>
              <a:xfrm>
                <a:off x="8081736" y="3488417"/>
                <a:ext cx="184217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𝑚𝑖𝑛𝑚𝑎𝑥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sk-SK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9" name="BlokTextu 8">
                <a:extLst>
                  <a:ext uri="{FF2B5EF4-FFF2-40B4-BE49-F238E27FC236}">
                    <a16:creationId xmlns:a16="http://schemas.microsoft.com/office/drawing/2014/main" id="{33AA27EC-BB99-7EA1-504C-4FED9601A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736" y="3488417"/>
                <a:ext cx="1842171" cy="289182"/>
              </a:xfrm>
              <a:prstGeom prst="rect">
                <a:avLst/>
              </a:prstGeom>
              <a:blipFill>
                <a:blip r:embed="rId4"/>
                <a:stretch>
                  <a:fillRect l="-2649" b="-14583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BlokTextu 9">
                <a:extLst>
                  <a:ext uri="{FF2B5EF4-FFF2-40B4-BE49-F238E27FC236}">
                    <a16:creationId xmlns:a16="http://schemas.microsoft.com/office/drawing/2014/main" id="{7D74E2C9-85D9-A79F-C638-1A5B5FABD9E5}"/>
                  </a:ext>
                </a:extLst>
              </p:cNvPr>
              <p:cNvSpPr txBox="1"/>
              <p:nvPr/>
            </p:nvSpPr>
            <p:spPr>
              <a:xfrm>
                <a:off x="8250531" y="4105427"/>
                <a:ext cx="1504579" cy="4261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sk-S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k-S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sk-SK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k-SK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sk-SK" dirty="0"/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𝑚𝑖𝑛𝑚𝑎𝑥</m:t>
                        </m:r>
                      </m:sub>
                    </m:sSub>
                  </m:oMath>
                </a14:m>
                <a:endParaRPr lang="sk-SK" dirty="0"/>
              </a:p>
            </p:txBody>
          </p:sp>
        </mc:Choice>
        <mc:Fallback xmlns="">
          <p:sp>
            <p:nvSpPr>
              <p:cNvPr id="10" name="BlokTextu 9">
                <a:extLst>
                  <a:ext uri="{FF2B5EF4-FFF2-40B4-BE49-F238E27FC236}">
                    <a16:creationId xmlns:a16="http://schemas.microsoft.com/office/drawing/2014/main" id="{7D74E2C9-85D9-A79F-C638-1A5B5FAB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531" y="4105427"/>
                <a:ext cx="1504579" cy="426142"/>
              </a:xfrm>
              <a:prstGeom prst="rect">
                <a:avLst/>
              </a:prstGeom>
              <a:blipFill>
                <a:blip r:embed="rId5"/>
                <a:stretch>
                  <a:fillRect t="-5714" r="-2834" b="-11429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533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F16FA8-BAEC-C11B-A72E-835CA739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4541445" cy="15874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sk-SK" sz="2800" noProof="0" dirty="0"/>
              <a:t>Overenie funkčnosti fixnej rezervy a obmedzenia hnacej sily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ástupný objekt pre obsah 5">
                <a:extLst>
                  <a:ext uri="{FF2B5EF4-FFF2-40B4-BE49-F238E27FC236}">
                    <a16:creationId xmlns:a16="http://schemas.microsoft.com/office/drawing/2014/main" id="{EAB812FE-E742-DFB8-DEE8-FB8411FC13AE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886450" y="562788"/>
                <a:ext cx="5726981" cy="1795557"/>
              </a:xfrm>
            </p:spPr>
            <p:txBody>
              <a:bodyPr vert="horz" lIns="91440" tIns="45720" rIns="91440" bIns="45720" rtlCol="0">
                <a:noAutofit/>
              </a:bodyPr>
              <a:lstStyle/>
              <a:p>
                <a:r>
                  <a:rPr lang="sk-SK" sz="1700" dirty="0"/>
                  <a:t>V grafe vľavo vidíme, že po zastavení vozidiel medzi nimi ostala vzdialenosť rovná nami nastavenej fixnej rezerve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17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17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sk-SK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k-SK" sz="17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sk-SK" sz="1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sk-SK" sz="17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sk-SK" sz="17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k-SK" sz="1700" dirty="0"/>
              </a:p>
              <a:p>
                <a:r>
                  <a:rPr lang="sk-SK" sz="1700" dirty="0"/>
                  <a:t>Akčný zásah bez obmedzenia prekračuje fyzikálne možnosti vozidla (zavedené obmedzenie to zabraňuje)</a:t>
                </a:r>
                <a:endParaRPr lang="en-US" sz="1700" dirty="0"/>
              </a:p>
            </p:txBody>
          </p:sp>
        </mc:Choice>
        <mc:Fallback xmlns="">
          <p:sp>
            <p:nvSpPr>
              <p:cNvPr id="6" name="Zástupný objekt pre obsah 5">
                <a:extLst>
                  <a:ext uri="{FF2B5EF4-FFF2-40B4-BE49-F238E27FC236}">
                    <a16:creationId xmlns:a16="http://schemas.microsoft.com/office/drawing/2014/main" id="{EAB812FE-E742-DFB8-DEE8-FB8411FC1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886450" y="562788"/>
                <a:ext cx="5726981" cy="1795557"/>
              </a:xfrm>
              <a:blipFill>
                <a:blip r:embed="rId2"/>
                <a:stretch>
                  <a:fillRect l="-532" t="-678" b="-4068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rázok 7" descr="Obrázok, na ktorom je rad, vývoj, diagram, rovnobežný&#10;&#10;Obsah vygenerovaný pomocou AI môže byť nesprávny.">
            <a:extLst>
              <a:ext uri="{FF2B5EF4-FFF2-40B4-BE49-F238E27FC236}">
                <a16:creationId xmlns:a16="http://schemas.microsoft.com/office/drawing/2014/main" id="{B48A4009-F4B8-660C-F0B1-3C6805272C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1354" y="2691637"/>
            <a:ext cx="5310444" cy="3186265"/>
          </a:xfrm>
          <a:prstGeom prst="rect">
            <a:avLst/>
          </a:prstGeom>
          <a:noFill/>
        </p:spPr>
      </p:pic>
      <p:pic>
        <p:nvPicPr>
          <p:cNvPr id="7" name="Obrázok 6" descr="Obrázok, na ktorom je text, rad, diagram, vývoj&#10;&#10;Obsah vygenerovaný pomocou AI môže byť nesprávny.">
            <a:extLst>
              <a:ext uri="{FF2B5EF4-FFF2-40B4-BE49-F238E27FC236}">
                <a16:creationId xmlns:a16="http://schemas.microsoft.com/office/drawing/2014/main" id="{248A09E8-B206-2F72-9D83-BBEAAEAA4B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8237" y="2691637"/>
            <a:ext cx="5310444" cy="3186265"/>
          </a:xfrm>
          <a:prstGeom prst="rect">
            <a:avLst/>
          </a:prstGeom>
          <a:noFill/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3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10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Nadpis 1">
                <a:extLst>
                  <a:ext uri="{FF2B5EF4-FFF2-40B4-BE49-F238E27FC236}">
                    <a16:creationId xmlns:a16="http://schemas.microsoft.com/office/drawing/2014/main" id="{EAC67109-4622-0621-366B-7ADA7AF5FA7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65150" y="770890"/>
                <a:ext cx="6400999" cy="126898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sk-SK" noProof="0" dirty="0"/>
                  <a:t>Vplyv parametrov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sk-SK" b="1" i="1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sk-SK" noProof="0" dirty="0"/>
                  <a:t> a </a:t>
                </a:r>
                <a:r>
                  <a:rPr lang="sk-SK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h</a:t>
                </a:r>
                <a:r>
                  <a:rPr lang="sk-SK" noProof="0" dirty="0"/>
                  <a:t> na </a:t>
                </a:r>
                <a:r>
                  <a:rPr lang="sk-SK" noProof="0" dirty="0" err="1"/>
                  <a:t>tempomat</a:t>
                </a:r>
                <a:endParaRPr lang="sk-SK" noProof="0" dirty="0"/>
              </a:p>
            </p:txBody>
          </p:sp>
        </mc:Choice>
        <mc:Fallback xmlns="">
          <p:sp>
            <p:nvSpPr>
              <p:cNvPr id="2" name="Nadpis 1">
                <a:extLst>
                  <a:ext uri="{FF2B5EF4-FFF2-40B4-BE49-F238E27FC236}">
                    <a16:creationId xmlns:a16="http://schemas.microsoft.com/office/drawing/2014/main" id="{EAC67109-4622-0621-366B-7ADA7AF5F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65150" y="770890"/>
                <a:ext cx="6400999" cy="1268984"/>
              </a:xfrm>
              <a:blipFill>
                <a:blip r:embed="rId2"/>
                <a:stretch>
                  <a:fillRect l="-3429" t="-13397" b="-1818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A202C52C-2162-ED0B-DECD-8D9F4CDAB42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65150" y="2160016"/>
                <a:ext cx="6400999" cy="3601212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sk-SK" sz="2000" dirty="0">
                    <a:effectLst/>
                    <a:latin typeface="Neue Haas Grotesk Text Pro (Text)"/>
                    <a:ea typeface="Times New Roman" panose="02020603050405020304" pitchFamily="18" charset="0"/>
                  </a:rPr>
                  <a:t>Na oboch grafoch vidíme trajektóriu zadného vozidla, jeho počiatočný stav a priamky ktoré reprezentujú prepínaciu funkciu.</a:t>
                </a:r>
              </a:p>
              <a:p>
                <a:r>
                  <a:rPr lang="sk-SK" sz="2000" dirty="0">
                    <a:latin typeface="Neue Haas Grotesk Text Pro (Text)"/>
                  </a:rPr>
                  <a:t>Z grafov je jasné, že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sk-SK" sz="2000" dirty="0">
                    <a:latin typeface="Neue Haas Grotesk Text Pro (Text)"/>
                  </a:rPr>
                  <a:t> má vplyv na posun prepínacej priamky a </a:t>
                </a:r>
                <a:r>
                  <a:rPr lang="sk-SK" sz="20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h </a:t>
                </a:r>
                <a:r>
                  <a:rPr lang="sk-SK" sz="2000" i="1" dirty="0">
                    <a:latin typeface="Neue Haas Grotesk Text Pro (Text)"/>
                    <a:ea typeface="Cambria" panose="02040503050406030204" pitchFamily="18" charset="0"/>
                  </a:rPr>
                  <a:t>spôsobuje zmenu sklonu priamky</a:t>
                </a:r>
                <a:endParaRPr lang="en-US" sz="2800" dirty="0">
                  <a:latin typeface="Neue Haas Grotesk Text Pro (Text)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A202C52C-2162-ED0B-DECD-8D9F4CDAB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65150" y="2160016"/>
                <a:ext cx="6400999" cy="3601212"/>
              </a:xfrm>
              <a:blipFill>
                <a:blip r:embed="rId3"/>
                <a:stretch>
                  <a:fillRect l="-857" t="-846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2ACBB827-9A2D-D449-9686-F47D2A20E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9B921EC8-AD62-E940-80A2-682AC710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23">
              <a:extLst>
                <a:ext uri="{FF2B5EF4-FFF2-40B4-BE49-F238E27FC236}">
                  <a16:creationId xmlns:a16="http://schemas.microsoft.com/office/drawing/2014/main" id="{6DBDC735-9A9C-6340-B1E4-3576B27ED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E3F399C2-198A-1347-8B48-1B1D508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4AB3593B-CA05-1845-839E-90B9B70EC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16" name="Straight Connector 39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rázok 6">
            <a:extLst>
              <a:ext uri="{FF2B5EF4-FFF2-40B4-BE49-F238E27FC236}">
                <a16:creationId xmlns:a16="http://schemas.microsoft.com/office/drawing/2014/main" id="{FECA47ED-62D1-D130-499C-8F9A6E9DF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860" y="1139695"/>
            <a:ext cx="3599695" cy="2159512"/>
          </a:xfrm>
          <a:prstGeom prst="rect">
            <a:avLst/>
          </a:prstGeom>
        </p:spPr>
      </p:pic>
      <p:pic>
        <p:nvPicPr>
          <p:cNvPr id="13" name="Zástupný objekt pre obsah 12">
            <a:extLst>
              <a:ext uri="{FF2B5EF4-FFF2-40B4-BE49-F238E27FC236}">
                <a16:creationId xmlns:a16="http://schemas.microsoft.com/office/drawing/2014/main" id="{3B8E58F6-88BE-D5EE-CDB6-5BB00B13AC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042" y="3645232"/>
            <a:ext cx="3599695" cy="2159512"/>
          </a:xfrm>
        </p:spPr>
      </p:pic>
    </p:spTree>
    <p:extLst>
      <p:ext uri="{BB962C8B-B14F-4D97-AF65-F5344CB8AC3E}">
        <p14:creationId xmlns:p14="http://schemas.microsoft.com/office/powerpoint/2010/main" val="3240091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1CC88-1DFF-224B-459D-67DC2E73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Nadpis 1">
                <a:extLst>
                  <a:ext uri="{FF2B5EF4-FFF2-40B4-BE49-F238E27FC236}">
                    <a16:creationId xmlns:a16="http://schemas.microsoft.com/office/drawing/2014/main" id="{BB447E1C-2602-1EAA-07E5-C2DB6E7DB6D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65149" y="768335"/>
                <a:ext cx="6362526" cy="1681478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r>
                  <a:rPr lang="sk-SK" noProof="0" dirty="0"/>
                  <a:t>Adaptívne nastavenie parametra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Nadpis 1">
                <a:extLst>
                  <a:ext uri="{FF2B5EF4-FFF2-40B4-BE49-F238E27FC236}">
                    <a16:creationId xmlns:a16="http://schemas.microsoft.com/office/drawing/2014/main" id="{BB447E1C-2602-1EAA-07E5-C2DB6E7DB6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65149" y="768335"/>
                <a:ext cx="6362526" cy="1681478"/>
              </a:xfrm>
              <a:blipFill>
                <a:blip r:embed="rId2"/>
                <a:stretch>
                  <a:fillRect l="-3452" t="-652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75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Obrázok 4">
            <a:extLst>
              <a:ext uri="{FF2B5EF4-FFF2-40B4-BE49-F238E27FC236}">
                <a16:creationId xmlns:a16="http://schemas.microsoft.com/office/drawing/2014/main" id="{CEF321D4-8122-6B24-2AA2-031EC1583C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94077" y="783848"/>
            <a:ext cx="4044804" cy="2426880"/>
          </a:xfrm>
          <a:prstGeom prst="rect">
            <a:avLst/>
          </a:prstGeom>
          <a:noFill/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36252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ok 5">
            <a:extLst>
              <a:ext uri="{FF2B5EF4-FFF2-40B4-BE49-F238E27FC236}">
                <a16:creationId xmlns:a16="http://schemas.microsoft.com/office/drawing/2014/main" id="{2F77E88C-D8AF-8CA0-D70C-6F3B5A4DDF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92306" y="3642949"/>
            <a:ext cx="4044804" cy="242688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1">
                <a:extLst>
                  <a:ext uri="{FF2B5EF4-FFF2-40B4-BE49-F238E27FC236}">
                    <a16:creationId xmlns:a16="http://schemas.microsoft.com/office/drawing/2014/main" id="{84DB4D3F-A7CF-515C-99BC-6CDC7B926E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150" y="2160016"/>
                <a:ext cx="6400999" cy="36012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4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Parameter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</a:t>
                </a:r>
                <a:r>
                  <a:rPr lang="sk-SK" sz="2000" noProof="0" dirty="0"/>
                  <a:t>sme získali pomocou prepínacej funkcie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sk-SK" sz="2000" dirty="0"/>
              </a:p>
              <a:p>
                <a:r>
                  <a:rPr lang="sk-SK" sz="2000" dirty="0"/>
                  <a:t>Z grafov je zrejmé, že adaptívne nastavenie parametra </a:t>
                </a:r>
                <a14:m>
                  <m:oMath xmlns:m="http://schemas.openxmlformats.org/officeDocument/2006/math">
                    <m:r>
                      <a:rPr lang="sk-SK" sz="20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sk-SK" sz="20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sk-SK" sz="2000" i="1" dirty="0"/>
                  <a:t> </a:t>
                </a:r>
                <a:r>
                  <a:rPr lang="sk-SK" sz="2000" dirty="0"/>
                  <a:t>dopomohlo k uhladeniu oboch priebehov avšak na začiatku simulácie vidíme výrazné preregulovanie</a:t>
                </a:r>
                <a:endParaRPr lang="en-US" sz="2800" dirty="0">
                  <a:latin typeface="Neue Haas Grotesk Text Pro (Text)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11">
                <a:extLst>
                  <a:ext uri="{FF2B5EF4-FFF2-40B4-BE49-F238E27FC236}">
                    <a16:creationId xmlns:a16="http://schemas.microsoft.com/office/drawing/2014/main" id="{84DB4D3F-A7CF-515C-99BC-6CDC7B926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50" y="2160016"/>
                <a:ext cx="6400999" cy="3601212"/>
              </a:xfrm>
              <a:prstGeom prst="rect">
                <a:avLst/>
              </a:prstGeom>
              <a:blipFill>
                <a:blip r:embed="rId5"/>
                <a:stretch>
                  <a:fillRect l="-857" t="-846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58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F286A79-6668-D05E-E215-5B9FEC41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4541445" cy="15874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k-SK" sz="2500" dirty="0"/>
              <a:t>Odvodenie zákona riadenia využitím postačujúcej podmienky stability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D2EC64C-5381-F9C2-4B7E-E40E01B23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539" y="817197"/>
            <a:ext cx="6003382" cy="154114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sk-SK" sz="1100" dirty="0"/>
          </a:p>
          <a:p>
            <a:pPr>
              <a:lnSpc>
                <a:spcPct val="90000"/>
              </a:lnSpc>
            </a:pPr>
            <a:r>
              <a:rPr lang="sk-SK" sz="2000" dirty="0"/>
              <a:t>Riadenie sme navrhli tak, aby platila nerovnosť:</a:t>
            </a:r>
          </a:p>
          <a:p>
            <a:pPr>
              <a:lnSpc>
                <a:spcPct val="90000"/>
              </a:lnSpc>
            </a:pPr>
            <a:r>
              <a:rPr lang="sk-SK" sz="2000" dirty="0"/>
              <a:t>Po odvodení sme dostali výslednú hnaciu silu v tvare: </a:t>
            </a:r>
          </a:p>
        </p:txBody>
      </p:sp>
      <p:pic>
        <p:nvPicPr>
          <p:cNvPr id="4" name="Obrázok 3" descr="Obrázok, na ktorom je text, diagram, rad, vývoj&#10;&#10;Obsah vygenerovaný pomocou AI môže byť nesprávny.">
            <a:extLst>
              <a:ext uri="{FF2B5EF4-FFF2-40B4-BE49-F238E27FC236}">
                <a16:creationId xmlns:a16="http://schemas.microsoft.com/office/drawing/2014/main" id="{A19AB066-BEBB-DED2-45A5-2BEC328D15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1354" y="2691637"/>
            <a:ext cx="5310444" cy="3186265"/>
          </a:xfrm>
          <a:prstGeom prst="rect">
            <a:avLst/>
          </a:prstGeom>
          <a:noFill/>
        </p:spPr>
      </p:pic>
      <p:pic>
        <p:nvPicPr>
          <p:cNvPr id="5" name="Obrázok 4" descr="Obrázok, na ktorom je text, rad, diagram, vývoj&#10;&#10;Obsah vygenerovaný pomocou AI môže byť nesprávny.">
            <a:extLst>
              <a:ext uri="{FF2B5EF4-FFF2-40B4-BE49-F238E27FC236}">
                <a16:creationId xmlns:a16="http://schemas.microsoft.com/office/drawing/2014/main" id="{4AAEEA4D-E546-2BEB-0451-FDB678D743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8237" y="2691637"/>
            <a:ext cx="5310444" cy="3186265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BlokTextu 5">
                <a:extLst>
                  <a:ext uri="{FF2B5EF4-FFF2-40B4-BE49-F238E27FC236}">
                    <a16:creationId xmlns:a16="http://schemas.microsoft.com/office/drawing/2014/main" id="{6E9903FD-E678-99B9-DE36-53BA20AE3454}"/>
                  </a:ext>
                </a:extLst>
              </p:cNvPr>
              <p:cNvSpPr txBox="1"/>
              <p:nvPr/>
            </p:nvSpPr>
            <p:spPr>
              <a:xfrm>
                <a:off x="11008454" y="946367"/>
                <a:ext cx="1230080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sk-SK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sk-SK" sz="1600" dirty="0"/>
              </a:p>
            </p:txBody>
          </p:sp>
        </mc:Choice>
        <mc:Fallback xmlns="">
          <p:sp>
            <p:nvSpPr>
              <p:cNvPr id="6" name="BlokTextu 5">
                <a:extLst>
                  <a:ext uri="{FF2B5EF4-FFF2-40B4-BE49-F238E27FC236}">
                    <a16:creationId xmlns:a16="http://schemas.microsoft.com/office/drawing/2014/main" id="{6E9903FD-E678-99B9-DE36-53BA20AE3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8454" y="946367"/>
                <a:ext cx="1230080" cy="618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BlokTextu 6">
            <a:extLst>
              <a:ext uri="{FF2B5EF4-FFF2-40B4-BE49-F238E27FC236}">
                <a16:creationId xmlns:a16="http://schemas.microsoft.com/office/drawing/2014/main" id="{C05A18E3-BED1-CC69-4E45-9379602C5D4D}"/>
              </a:ext>
            </a:extLst>
          </p:cNvPr>
          <p:cNvSpPr txBox="1"/>
          <p:nvPr/>
        </p:nvSpPr>
        <p:spPr>
          <a:xfrm>
            <a:off x="10646229" y="2358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k-S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BlokTextu 7">
                <a:extLst>
                  <a:ext uri="{FF2B5EF4-FFF2-40B4-BE49-F238E27FC236}">
                    <a16:creationId xmlns:a16="http://schemas.microsoft.com/office/drawing/2014/main" id="{15587FEF-05D9-DC08-13BE-A3314992CD94}"/>
                  </a:ext>
                </a:extLst>
              </p:cNvPr>
              <p:cNvSpPr txBox="1"/>
              <p:nvPr/>
            </p:nvSpPr>
            <p:spPr>
              <a:xfrm>
                <a:off x="5335594" y="1998812"/>
                <a:ext cx="5581271" cy="862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sk-SK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|"/>
                          <m:endChr m:val="|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sk-SK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sk-SK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k-S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sk-SK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sk-S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sk-S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k-SK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d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sk-SK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sk-SK" dirty="0"/>
              </a:p>
              <a:p>
                <a:endParaRPr lang="sk-SK" dirty="0"/>
              </a:p>
            </p:txBody>
          </p:sp>
        </mc:Choice>
        <mc:Fallback xmlns="">
          <p:sp>
            <p:nvSpPr>
              <p:cNvPr id="8" name="BlokTextu 7">
                <a:extLst>
                  <a:ext uri="{FF2B5EF4-FFF2-40B4-BE49-F238E27FC236}">
                    <a16:creationId xmlns:a16="http://schemas.microsoft.com/office/drawing/2014/main" id="{15587FEF-05D9-DC08-13BE-A3314992C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594" y="1998812"/>
                <a:ext cx="5581271" cy="8622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586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2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BE20707-4213-DD65-BB33-704CD8FD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sk-SK" dirty="0"/>
              <a:t>Zhrnutie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A9EDE238-F71E-8679-F1DA-C75D781F7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50" y="2160016"/>
                <a:ext cx="10168659" cy="392709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sk-SK" sz="2000" dirty="0">
                    <a:latin typeface="Neue Haas Grotesk Text Pro (Text)"/>
                  </a:rPr>
                  <a:t>Po naštudovaní materiálov sa nám podarilo úspešne navrhnúť model dynamiky vozidla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2000" dirty="0">
                    <a:latin typeface="Neue Haas Grotesk Text Pro (Text)"/>
                  </a:rPr>
                  <a:t>Pomocou zákonov a rovníc sme si odvodili robustný </a:t>
                </a:r>
                <a:r>
                  <a:rPr lang="sk-SK" sz="2000" dirty="0" err="1">
                    <a:latin typeface="Neue Haas Grotesk Text Pro (Text)"/>
                  </a:rPr>
                  <a:t>tempomat</a:t>
                </a:r>
                <a:r>
                  <a:rPr lang="sk-SK" sz="2000" dirty="0">
                    <a:latin typeface="Neue Haas Grotesk Text Pro (Text)"/>
                  </a:rPr>
                  <a:t> pre zadné vozidlo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2000" dirty="0">
                    <a:latin typeface="Neue Haas Grotesk Text Pro (Text)"/>
                  </a:rPr>
                  <a:t>Odstránili sme nespojité prepínanie zo zákonu riadenia pomocou prechodového pásma </a:t>
                </a:r>
                <a:r>
                  <a:rPr lang="el-GR" sz="2000" dirty="0">
                    <a:latin typeface="Neue Haas Grotesk Text Pro (Text)"/>
                  </a:rPr>
                  <a:t>δ</a:t>
                </a:r>
                <a:endParaRPr lang="sk-SK" sz="2000" dirty="0">
                  <a:latin typeface="Neue Haas Grotesk Text Pro (Text)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2000" dirty="0">
                    <a:latin typeface="Neue Haas Grotesk Text Pro (Text)"/>
                  </a:rPr>
                  <a:t>Rozšírili sme </a:t>
                </a:r>
                <a:r>
                  <a:rPr lang="sk-SK" sz="2000" dirty="0" err="1">
                    <a:latin typeface="Neue Haas Grotesk Text Pro (Text)"/>
                  </a:rPr>
                  <a:t>tempomat</a:t>
                </a:r>
                <a:r>
                  <a:rPr lang="sk-SK" sz="2000" dirty="0">
                    <a:latin typeface="Neue Haas Grotesk Text Pro (Text)"/>
                  </a:rPr>
                  <a:t> o fixnú časovú rezervu a o obmedzenie hnacej sily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2000" dirty="0">
                    <a:latin typeface="Neue Haas Grotesk Text Pro (Text)"/>
                  </a:rPr>
                  <a:t>Navrhli sme tri varianty riadenia </a:t>
                </a:r>
                <a:r>
                  <a:rPr lang="sk-SK" sz="2000" dirty="0" err="1">
                    <a:latin typeface="Neue Haas Grotesk Text Pro (Text)"/>
                  </a:rPr>
                  <a:t>tempomatu</a:t>
                </a:r>
                <a:r>
                  <a:rPr lang="sk-SK" sz="2000" dirty="0">
                    <a:latin typeface="Neue Haas Grotesk Text Pro (Text)"/>
                  </a:rPr>
                  <a:t>: s fixným parametrom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sk-SK" sz="2000" dirty="0">
                    <a:latin typeface="Neue Haas Grotesk Text Pro (Text)"/>
                  </a:rPr>
                  <a:t>, s adaptívne meniacim sa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l-GR" sz="2000" dirty="0">
                    <a:latin typeface="Neue Haas Grotesk Text Pro (Text)"/>
                  </a:rPr>
                  <a:t>, </a:t>
                </a:r>
                <a:r>
                  <a:rPr lang="sk-SK" sz="2000" dirty="0">
                    <a:latin typeface="Neue Haas Grotesk Text Pro (Text)"/>
                  </a:rPr>
                  <a:t>a analytické riadenie odvodené z postačujúcej podmienky stability bez potreby návrhu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Neue Haas Grotesk Text Pro (Text)"/>
                  </a:rPr>
                  <a:t> </a:t>
                </a:r>
                <a:endParaRPr lang="sk-SK" sz="2000" dirty="0">
                  <a:latin typeface="Neue Haas Grotesk Text Pro (Text)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2000" dirty="0">
                    <a:latin typeface="Neue Haas Grotesk Text Pro (Text)"/>
                  </a:rPr>
                  <a:t>Pomocou simulácii sme našu prácu overili v programe </a:t>
                </a:r>
                <a:r>
                  <a:rPr lang="sk-SK" sz="2000" dirty="0" err="1">
                    <a:latin typeface="Neue Haas Grotesk Text Pro (Text)"/>
                  </a:rPr>
                  <a:t>Matlab-Simulnik</a:t>
                </a:r>
                <a:endParaRPr lang="sk-SK" sz="2000" dirty="0">
                  <a:latin typeface="Neue Haas Grotesk Text Pro (Text)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sk-SK" sz="2000" dirty="0">
                    <a:latin typeface="Neue Haas Grotesk Text Pro (Text)"/>
                  </a:rPr>
                  <a:t>Výsledky simulácií sme vyhodnotili</a:t>
                </a:r>
              </a:p>
              <a:p>
                <a:pPr>
                  <a:lnSpc>
                    <a:spcPct val="90000"/>
                  </a:lnSpc>
                </a:pPr>
                <a:endParaRPr lang="sk-SK" sz="1700" dirty="0"/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A9EDE238-F71E-8679-F1DA-C75D781F7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2160016"/>
                <a:ext cx="10168659" cy="3927094"/>
              </a:xfrm>
              <a:blipFill>
                <a:blip r:embed="rId2"/>
                <a:stretch>
                  <a:fillRect l="-540" t="-1550" r="-60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7C2670-8081-9C42-82A1-23BBFAEA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054FC3-922A-EC40-AC25-A59AF5378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61" name="Oval 28">
              <a:extLst>
                <a:ext uri="{FF2B5EF4-FFF2-40B4-BE49-F238E27FC236}">
                  <a16:creationId xmlns:a16="http://schemas.microsoft.com/office/drawing/2014/main" id="{E52B27A6-BDD2-B247-9494-C90C996DB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A368B3AC-A3AC-C949-864D-1C05AADBA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42">
              <a:extLst>
                <a:ext uri="{FF2B5EF4-FFF2-40B4-BE49-F238E27FC236}">
                  <a16:creationId xmlns:a16="http://schemas.microsoft.com/office/drawing/2014/main" id="{EB848571-59FE-B34A-8561-FD4325EC1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Oval 31">
              <a:extLst>
                <a:ext uri="{FF2B5EF4-FFF2-40B4-BE49-F238E27FC236}">
                  <a16:creationId xmlns:a16="http://schemas.microsoft.com/office/drawing/2014/main" id="{2F3C3152-8488-E444-BBA7-E9CD62AC1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32">
              <a:extLst>
                <a:ext uri="{FF2B5EF4-FFF2-40B4-BE49-F238E27FC236}">
                  <a16:creationId xmlns:a16="http://schemas.microsoft.com/office/drawing/2014/main" id="{536756F0-72A6-9F45-86A4-7D8C5E1AC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33">
              <a:extLst>
                <a:ext uri="{FF2B5EF4-FFF2-40B4-BE49-F238E27FC236}">
                  <a16:creationId xmlns:a16="http://schemas.microsoft.com/office/drawing/2014/main" id="{5E18A883-69CF-FB4D-A4F9-6835E196C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46">
              <a:extLst>
                <a:ext uri="{FF2B5EF4-FFF2-40B4-BE49-F238E27FC236}">
                  <a16:creationId xmlns:a16="http://schemas.microsoft.com/office/drawing/2014/main" id="{83415627-4FAA-3B4B-8A88-63E862A5F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 47">
              <a:extLst>
                <a:ext uri="{FF2B5EF4-FFF2-40B4-BE49-F238E27FC236}">
                  <a16:creationId xmlns:a16="http://schemas.microsoft.com/office/drawing/2014/main" id="{BF96A3B0-DCC7-1647-8383-429159B1D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Freeform 48">
              <a:extLst>
                <a:ext uri="{FF2B5EF4-FFF2-40B4-BE49-F238E27FC236}">
                  <a16:creationId xmlns:a16="http://schemas.microsoft.com/office/drawing/2014/main" id="{392468EE-53D9-F243-B2B0-FA9D2A742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49">
              <a:extLst>
                <a:ext uri="{FF2B5EF4-FFF2-40B4-BE49-F238E27FC236}">
                  <a16:creationId xmlns:a16="http://schemas.microsoft.com/office/drawing/2014/main" id="{6C6EB606-ED6D-3D47-B27D-C7736D781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50">
              <a:extLst>
                <a:ext uri="{FF2B5EF4-FFF2-40B4-BE49-F238E27FC236}">
                  <a16:creationId xmlns:a16="http://schemas.microsoft.com/office/drawing/2014/main" id="{1E551583-A0DA-C64D-8385-F579D091E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51">
              <a:extLst>
                <a:ext uri="{FF2B5EF4-FFF2-40B4-BE49-F238E27FC236}">
                  <a16:creationId xmlns:a16="http://schemas.microsoft.com/office/drawing/2014/main" id="{3C9B75DD-4CC7-0143-9DF3-9249A306A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52">
              <a:extLst>
                <a:ext uri="{FF2B5EF4-FFF2-40B4-BE49-F238E27FC236}">
                  <a16:creationId xmlns:a16="http://schemas.microsoft.com/office/drawing/2014/main" id="{59CDD5E1-EB61-2847-B3B3-33771B104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1906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66" name="Oval 7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Oval 1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11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1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Oval 15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16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17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18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Oval 21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22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23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90" name="Straight Connector 32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1" name="Rectangle 3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E400C94-DFB2-D387-87DF-1960E4162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8791501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 sz="7200" noProof="0" dirty="0"/>
              <a:t>Ďakujem za pozornosť</a:t>
            </a:r>
          </a:p>
        </p:txBody>
      </p:sp>
      <p:cxnSp>
        <p:nvCxnSpPr>
          <p:cNvPr id="92" name="Straight Connector 36">
            <a:extLst>
              <a:ext uri="{FF2B5EF4-FFF2-40B4-BE49-F238E27FC236}">
                <a16:creationId xmlns:a16="http://schemas.microsoft.com/office/drawing/2014/main" id="{2DDDFCEF-D5C9-BE40-9979-57040F02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919876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38">
            <a:extLst>
              <a:ext uri="{FF2B5EF4-FFF2-40B4-BE49-F238E27FC236}">
                <a16:creationId xmlns:a16="http://schemas.microsoft.com/office/drawing/2014/main" id="{E63AF7E2-A240-C246-AFB8-2AD8FF462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94" name="Freeform 23">
              <a:extLst>
                <a:ext uri="{FF2B5EF4-FFF2-40B4-BE49-F238E27FC236}">
                  <a16:creationId xmlns:a16="http://schemas.microsoft.com/office/drawing/2014/main" id="{760799C4-90B2-C44F-B45C-4128C830B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Freeform 24">
              <a:extLst>
                <a:ext uri="{FF2B5EF4-FFF2-40B4-BE49-F238E27FC236}">
                  <a16:creationId xmlns:a16="http://schemas.microsoft.com/office/drawing/2014/main" id="{8117A5FF-BE82-D049-80D2-F42CEB9E7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Freeform 25">
              <a:extLst>
                <a:ext uri="{FF2B5EF4-FFF2-40B4-BE49-F238E27FC236}">
                  <a16:creationId xmlns:a16="http://schemas.microsoft.com/office/drawing/2014/main" id="{0BDBD55C-A498-F545-BABF-ACA34A20E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Freeform 26">
              <a:extLst>
                <a:ext uri="{FF2B5EF4-FFF2-40B4-BE49-F238E27FC236}">
                  <a16:creationId xmlns:a16="http://schemas.microsoft.com/office/drawing/2014/main" id="{FC6DFD41-F3C6-7747-98B3-A47594E7B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8" name="Freeform 27">
              <a:extLst>
                <a:ext uri="{FF2B5EF4-FFF2-40B4-BE49-F238E27FC236}">
                  <a16:creationId xmlns:a16="http://schemas.microsoft.com/office/drawing/2014/main" id="{FA2D6C8B-5842-3443-BC3B-700D61C56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Freeform 28">
              <a:extLst>
                <a:ext uri="{FF2B5EF4-FFF2-40B4-BE49-F238E27FC236}">
                  <a16:creationId xmlns:a16="http://schemas.microsoft.com/office/drawing/2014/main" id="{C7442654-B5C0-1847-A829-082D07974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Freeform 29">
              <a:extLst>
                <a:ext uri="{FF2B5EF4-FFF2-40B4-BE49-F238E27FC236}">
                  <a16:creationId xmlns:a16="http://schemas.microsoft.com/office/drawing/2014/main" id="{42B39F10-6841-E54C-8D10-69B571EE1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9158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4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3126B0-3152-0292-9A6C-5877A63A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002405" cy="126898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sk-SK" sz="2400" noProof="0" dirty="0"/>
              <a:t>Str. 15 Prečo vystupuje rýchlosť vo výraze (8) v absolútnej hodnote? Bude sa systém správať rovnako pri kladnej aj zápornej rýchlosti?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ástupný objekt pre obsah 2">
                <a:extLst>
                  <a:ext uri="{FF2B5EF4-FFF2-40B4-BE49-F238E27FC236}">
                    <a16:creationId xmlns:a16="http://schemas.microsoft.com/office/drawing/2014/main" id="{D161195E-53BA-2330-990F-4E3CB92F89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150" y="2064289"/>
                <a:ext cx="5995137" cy="31519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4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sk-SK" sz="2000" noProof="0" dirty="0"/>
                  <a:t>Rýchlosť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sk-SK" sz="20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sk-SK" sz="20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k-SK" sz="2000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sk-SK" sz="2000" noProof="0" dirty="0"/>
                  <a:t> vystupuje vo výraze (8) v absolútnej hodnote preto, aby referenčná vzdialenosť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2000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sk-SK" sz="2000" noProof="0" dirty="0"/>
                  <a:t> mala vždy kladnú hodnotu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2000" noProof="0" dirty="0"/>
                  <a:t>Vzhľadom na to, že </a:t>
                </a:r>
                <a:r>
                  <a:rPr lang="sk-SK" sz="2000" noProof="0" dirty="0" err="1"/>
                  <a:t>tempomat</a:t>
                </a:r>
                <a:r>
                  <a:rPr lang="sk-SK" sz="2000" noProof="0" dirty="0"/>
                  <a:t> sa v praxi pri cúvaní nepoužíva, nepovažovali sme za potrebné overovať správanie systému pri záporných rýchlostiach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2000" noProof="0" dirty="0"/>
                  <a:t>Systém sa nebude správať rovnako pri kladnej aj zápornej rýchlosti pretože, systém je navrhnutý pre pohyb vozidiel vpred</a:t>
                </a:r>
              </a:p>
              <a:p>
                <a:pPr>
                  <a:lnSpc>
                    <a:spcPct val="9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Zástupný objekt pre obsah 2">
                <a:extLst>
                  <a:ext uri="{FF2B5EF4-FFF2-40B4-BE49-F238E27FC236}">
                    <a16:creationId xmlns:a16="http://schemas.microsoft.com/office/drawing/2014/main" id="{D161195E-53BA-2330-990F-4E3CB92F8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50" y="2064289"/>
                <a:ext cx="5995137" cy="3151948"/>
              </a:xfrm>
              <a:prstGeom prst="rect">
                <a:avLst/>
              </a:prstGeom>
              <a:blipFill>
                <a:blip r:embed="rId3"/>
                <a:stretch>
                  <a:fillRect l="-916" t="-2128" b="-580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Zástupný objekt pre obsah 3" descr="Obrázok, na ktorom je text, rad, vývoj, diagram&#10;&#10;Obsah vygenerovaný pomocou AI môže byť nesprávny.">
            <a:extLst>
              <a:ext uri="{FF2B5EF4-FFF2-40B4-BE49-F238E27FC236}">
                <a16:creationId xmlns:a16="http://schemas.microsoft.com/office/drawing/2014/main" id="{4367D12A-CFD4-7260-D0E3-620CC71FB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2660287"/>
            <a:ext cx="4814084" cy="2888453"/>
          </a:xfrm>
          <a:prstGeom prst="rect">
            <a:avLst/>
          </a:prstGeom>
        </p:spPr>
      </p:pic>
      <p:grpSp>
        <p:nvGrpSpPr>
          <p:cNvPr id="61" name="Group 51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62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66" name="Straight Connector 57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BlokTextu 5">
                <a:extLst>
                  <a:ext uri="{FF2B5EF4-FFF2-40B4-BE49-F238E27FC236}">
                    <a16:creationId xmlns:a16="http://schemas.microsoft.com/office/drawing/2014/main" id="{FF4F6772-1F87-405B-CD10-3AB8410F6649}"/>
                  </a:ext>
                </a:extLst>
              </p:cNvPr>
              <p:cNvSpPr txBox="1"/>
              <p:nvPr/>
            </p:nvSpPr>
            <p:spPr>
              <a:xfrm>
                <a:off x="2644268" y="5370849"/>
                <a:ext cx="1798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sk-SK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sk-S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k-SK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|"/>
                          <m:endChr m:val="|"/>
                          <m:ctrlPr>
                            <a:rPr lang="sk-SK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sk-SK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k-SK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sk-SK" sz="2800" dirty="0"/>
              </a:p>
            </p:txBody>
          </p:sp>
        </mc:Choice>
        <mc:Fallback xmlns="">
          <p:sp>
            <p:nvSpPr>
              <p:cNvPr id="6" name="BlokTextu 5">
                <a:extLst>
                  <a:ext uri="{FF2B5EF4-FFF2-40B4-BE49-F238E27FC236}">
                    <a16:creationId xmlns:a16="http://schemas.microsoft.com/office/drawing/2014/main" id="{FF4F6772-1F87-405B-CD10-3AB8410F6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268" y="5370849"/>
                <a:ext cx="179806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3262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40711E3-8BF1-C542-D3C4-43B6B0201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455907"/>
            <a:ext cx="8828232" cy="1985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4000" b="1" dirty="0"/>
              <a:t>Experimentálne overenie správania systému pri cúvaní</a:t>
            </a:r>
          </a:p>
        </p:txBody>
      </p:sp>
      <p:pic>
        <p:nvPicPr>
          <p:cNvPr id="5" name="Obrázok 4" descr="Obrázok, na ktorom je text, rad, vývoj, diagram&#10;&#10;Obsah vygenerovaný pomocou AI môže byť nesprávny.">
            <a:extLst>
              <a:ext uri="{FF2B5EF4-FFF2-40B4-BE49-F238E27FC236}">
                <a16:creationId xmlns:a16="http://schemas.microsoft.com/office/drawing/2014/main" id="{6CC75830-2F40-BFF4-467A-F0CDAF403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7" y="3148934"/>
            <a:ext cx="3959665" cy="2375463"/>
          </a:xfrm>
          <a:prstGeom prst="rect">
            <a:avLst/>
          </a:prstGeom>
        </p:spPr>
      </p:pic>
      <p:pic>
        <p:nvPicPr>
          <p:cNvPr id="7" name="Obrázok 6" descr="Obrázok, na ktorom je rad, vývoj, diagram, text&#10;&#10;Obsah vygenerovaný pomocou AI môže byť nesprávny.">
            <a:extLst>
              <a:ext uri="{FF2B5EF4-FFF2-40B4-BE49-F238E27FC236}">
                <a16:creationId xmlns:a16="http://schemas.microsoft.com/office/drawing/2014/main" id="{DA9D6E7A-B676-C5A9-B2DC-F74727F4C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019" y="3148934"/>
            <a:ext cx="3959665" cy="2375463"/>
          </a:xfrm>
          <a:prstGeom prst="rect">
            <a:avLst/>
          </a:prstGeom>
        </p:spPr>
      </p:pic>
      <p:pic>
        <p:nvPicPr>
          <p:cNvPr id="9" name="Obrázok 8" descr="Obrázok, na ktorom je rad, diagram, vývoj, text&#10;&#10;Obsah vygenerovaný pomocou AI môže byť nesprávny.">
            <a:extLst>
              <a:ext uri="{FF2B5EF4-FFF2-40B4-BE49-F238E27FC236}">
                <a16:creationId xmlns:a16="http://schemas.microsoft.com/office/drawing/2014/main" id="{4B83F985-32D5-1EAC-0DAC-8FBCAEBF83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052" y="3138543"/>
            <a:ext cx="3959665" cy="23754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ástupný objekt pre obsah 2">
                <a:extLst>
                  <a:ext uri="{FF2B5EF4-FFF2-40B4-BE49-F238E27FC236}">
                    <a16:creationId xmlns:a16="http://schemas.microsoft.com/office/drawing/2014/main" id="{EF2A2190-9CF8-CD95-FD5D-3D48162956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150" y="2064289"/>
                <a:ext cx="11061700" cy="8833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  <a:defRPr sz="14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sk-SK" sz="2000" dirty="0"/>
                  <a:t>Po úprave simulácie, kde sme odstránili absolútnu hodnotu a nastavili fixnú rezervu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sz="200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sk-SK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sk-SK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sk-SK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sk-SK" sz="2000" dirty="0"/>
                  <a:t>, sa ukázalo, že systém funguje korektne aj pri cúvaní</a:t>
                </a:r>
              </a:p>
              <a:p>
                <a:pPr>
                  <a:lnSpc>
                    <a:spcPct val="9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11" name="Zástupný objekt pre obsah 2">
                <a:extLst>
                  <a:ext uri="{FF2B5EF4-FFF2-40B4-BE49-F238E27FC236}">
                    <a16:creationId xmlns:a16="http://schemas.microsoft.com/office/drawing/2014/main" id="{EF2A2190-9CF8-CD95-FD5D-3D4816295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50" y="2064289"/>
                <a:ext cx="11061700" cy="883306"/>
              </a:xfrm>
              <a:prstGeom prst="rect">
                <a:avLst/>
              </a:prstGeom>
              <a:blipFill>
                <a:blip r:embed="rId6"/>
                <a:stretch>
                  <a:fillRect l="-496" t="-4138" r="-110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2096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2F208-35D7-8DAB-0561-5901306F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23">
            <a:extLst>
              <a:ext uri="{FF2B5EF4-FFF2-40B4-BE49-F238E27FC236}">
                <a16:creationId xmlns:a16="http://schemas.microsoft.com/office/drawing/2014/main" id="{17237967-6B80-3137-137B-1AF0D8CF8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Nadpis 1">
                <a:extLst>
                  <a:ext uri="{FF2B5EF4-FFF2-40B4-BE49-F238E27FC236}">
                    <a16:creationId xmlns:a16="http://schemas.microsoft.com/office/drawing/2014/main" id="{436F51E3-4DBB-629D-5343-DE08568B0B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65150" y="770890"/>
                <a:ext cx="7335835" cy="1268984"/>
              </a:xfrm>
            </p:spPr>
            <p:txBody>
              <a:bodyPr>
                <a:noAutofit/>
              </a:bodyPr>
              <a:lstStyle/>
              <a:p>
                <a:r>
                  <a:rPr lang="sk-SK" sz="2400" dirty="0"/>
                  <a:t>Str. 33 Ako je definované vo výraze (55) </a:t>
                </a:r>
                <a14:m>
                  <m:oMath xmlns:m="http://schemas.openxmlformats.org/officeDocument/2006/math">
                    <m:r>
                      <a:rPr lang="sk-S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sk-SK" sz="2400" dirty="0"/>
                  <a:t>*?</a:t>
                </a:r>
              </a:p>
            </p:txBody>
          </p:sp>
        </mc:Choice>
        <mc:Fallback xmlns="">
          <p:sp>
            <p:nvSpPr>
              <p:cNvPr id="2" name="Nadpis 1">
                <a:extLst>
                  <a:ext uri="{FF2B5EF4-FFF2-40B4-BE49-F238E27FC236}">
                    <a16:creationId xmlns:a16="http://schemas.microsoft.com/office/drawing/2014/main" id="{436F51E3-4DBB-629D-5343-DE08568B0B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65150" y="770890"/>
                <a:ext cx="7335835" cy="1268984"/>
              </a:xfrm>
              <a:blipFill>
                <a:blip r:embed="rId2"/>
                <a:stretch>
                  <a:fillRect l="-1330" t="-4306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2109A8B1-5DD6-C3D6-BAB6-764140A4BA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150" y="2160016"/>
                <a:ext cx="7335835" cy="360121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sk-SK" sz="2000" dirty="0"/>
                  <a:t>Vo výraze (55)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sk-SK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sk-SK" sz="2000" dirty="0"/>
                  <a:t> predstavuje ľubovoľné malé kladné číslo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sk-SK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sk-S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sk-SK" sz="2000" dirty="0"/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2000" dirty="0">
                    <a:ea typeface="Cambria Math" panose="02040503050406030204" pitchFamily="18" charset="0"/>
                  </a:rPr>
                  <a:t>V práci nie je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sk-SK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sk-SK" sz="2000" dirty="0"/>
                  <a:t> explicitne definovaná konkrétnym číslom ani presným spôsobom výpočtu</a:t>
                </a:r>
              </a:p>
              <a:p>
                <a:pPr>
                  <a:lnSpc>
                    <a:spcPct val="90000"/>
                  </a:lnSpc>
                </a:pPr>
                <a:r>
                  <a:rPr lang="sk-SK" sz="2000" dirty="0"/>
                  <a:t>Slúži na to, aby bola zabezpečená nerovnosť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k-SK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sz="20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sk-SK" sz="20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sk-S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k-SK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sk-SK" sz="20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sk-SK" sz="2000" dirty="0"/>
                  <a:t> aj pri maximálnej očakávanej poruche</a:t>
                </a:r>
              </a:p>
              <a:p>
                <a:pPr>
                  <a:lnSpc>
                    <a:spcPct val="90000"/>
                  </a:lnSpc>
                </a:pPr>
                <a:endParaRPr lang="sk-SK" sz="1700" dirty="0"/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2109A8B1-5DD6-C3D6-BAB6-764140A4BA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2160016"/>
                <a:ext cx="7335835" cy="3601212"/>
              </a:xfrm>
              <a:blipFill>
                <a:blip r:embed="rId3"/>
                <a:stretch>
                  <a:fillRect l="-748" t="-169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8B9C0BD-FFC2-CA7D-C4E2-0989D1FD6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DABD69-3355-3A9E-8256-B744CE5AE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61" name="Oval 28">
              <a:extLst>
                <a:ext uri="{FF2B5EF4-FFF2-40B4-BE49-F238E27FC236}">
                  <a16:creationId xmlns:a16="http://schemas.microsoft.com/office/drawing/2014/main" id="{14562B3D-1715-D2E3-8BB3-7D7376DA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D683CC30-9D6E-A744-BA85-6AA374409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42">
              <a:extLst>
                <a:ext uri="{FF2B5EF4-FFF2-40B4-BE49-F238E27FC236}">
                  <a16:creationId xmlns:a16="http://schemas.microsoft.com/office/drawing/2014/main" id="{6623D9AE-5F62-7162-4F37-E815A4E9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Oval 31">
              <a:extLst>
                <a:ext uri="{FF2B5EF4-FFF2-40B4-BE49-F238E27FC236}">
                  <a16:creationId xmlns:a16="http://schemas.microsoft.com/office/drawing/2014/main" id="{AAD29F71-A4B8-123F-662C-6E06722CD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32">
              <a:extLst>
                <a:ext uri="{FF2B5EF4-FFF2-40B4-BE49-F238E27FC236}">
                  <a16:creationId xmlns:a16="http://schemas.microsoft.com/office/drawing/2014/main" id="{C0E4544C-3FCB-9852-3E49-1A7F74B11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33">
              <a:extLst>
                <a:ext uri="{FF2B5EF4-FFF2-40B4-BE49-F238E27FC236}">
                  <a16:creationId xmlns:a16="http://schemas.microsoft.com/office/drawing/2014/main" id="{EF830934-DB99-2FAC-3510-FFDA933A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46">
              <a:extLst>
                <a:ext uri="{FF2B5EF4-FFF2-40B4-BE49-F238E27FC236}">
                  <a16:creationId xmlns:a16="http://schemas.microsoft.com/office/drawing/2014/main" id="{57D035ED-A730-E3D5-5682-C669C8B95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 47">
              <a:extLst>
                <a:ext uri="{FF2B5EF4-FFF2-40B4-BE49-F238E27FC236}">
                  <a16:creationId xmlns:a16="http://schemas.microsoft.com/office/drawing/2014/main" id="{503426C2-11C0-77A5-21F9-16BDEDBEE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Freeform 48">
              <a:extLst>
                <a:ext uri="{FF2B5EF4-FFF2-40B4-BE49-F238E27FC236}">
                  <a16:creationId xmlns:a16="http://schemas.microsoft.com/office/drawing/2014/main" id="{E511E3F2-9940-1478-0A61-48BC410EC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49">
              <a:extLst>
                <a:ext uri="{FF2B5EF4-FFF2-40B4-BE49-F238E27FC236}">
                  <a16:creationId xmlns:a16="http://schemas.microsoft.com/office/drawing/2014/main" id="{92B76821-C707-9FCF-2F35-A3A994AB3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50">
              <a:extLst>
                <a:ext uri="{FF2B5EF4-FFF2-40B4-BE49-F238E27FC236}">
                  <a16:creationId xmlns:a16="http://schemas.microsoft.com/office/drawing/2014/main" id="{1394BF20-2265-ECAF-8C7D-C7AF0C0C1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51">
              <a:extLst>
                <a:ext uri="{FF2B5EF4-FFF2-40B4-BE49-F238E27FC236}">
                  <a16:creationId xmlns:a16="http://schemas.microsoft.com/office/drawing/2014/main" id="{0AF41CF9-6D66-A76C-9306-EB675E426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52">
              <a:extLst>
                <a:ext uri="{FF2B5EF4-FFF2-40B4-BE49-F238E27FC236}">
                  <a16:creationId xmlns:a16="http://schemas.microsoft.com/office/drawing/2014/main" id="{6AE99BE3-CE3A-B45A-0838-2EEAF0ADC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BlokTextu 3">
                <a:extLst>
                  <a:ext uri="{FF2B5EF4-FFF2-40B4-BE49-F238E27FC236}">
                    <a16:creationId xmlns:a16="http://schemas.microsoft.com/office/drawing/2014/main" id="{502FBE2E-E3E1-346F-8C5A-5D3D01D6376D}"/>
                  </a:ext>
                </a:extLst>
              </p:cNvPr>
              <p:cNvSpPr txBox="1"/>
              <p:nvPr/>
            </p:nvSpPr>
            <p:spPr>
              <a:xfrm>
                <a:off x="-136955" y="4736636"/>
                <a:ext cx="8740043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k-S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sk-SK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sk-SK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begChr m:val="|"/>
                          <m:endChr m:val="|"/>
                          <m:ctrlPr>
                            <a:rPr lang="sk-S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sk-SK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k-SK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sk-S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sk-SK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sk-S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sk-SK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sk-SK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sk-S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sk-SK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sk-SK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sk-SK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k-SK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sk-SK" sz="2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d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sk-S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k-SK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sk-SK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sk-SK" sz="24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sk-S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sk-SK" sz="2400" dirty="0"/>
              </a:p>
            </p:txBody>
          </p:sp>
        </mc:Choice>
        <mc:Fallback xmlns="">
          <p:sp>
            <p:nvSpPr>
              <p:cNvPr id="4" name="BlokTextu 3">
                <a:extLst>
                  <a:ext uri="{FF2B5EF4-FFF2-40B4-BE49-F238E27FC236}">
                    <a16:creationId xmlns:a16="http://schemas.microsoft.com/office/drawing/2014/main" id="{502FBE2E-E3E1-346F-8C5A-5D3D01D63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6955" y="4736636"/>
                <a:ext cx="8740043" cy="749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6209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B9FE4A-8C96-8FA6-4389-B0A8F26E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10708986" cy="5068801"/>
          </a:xfrm>
        </p:spPr>
        <p:txBody>
          <a:bodyPr>
            <a:noAutofit/>
          </a:bodyPr>
          <a:lstStyle/>
          <a:p>
            <a:r>
              <a:rPr lang="sk-SK" sz="2400" dirty="0"/>
              <a:t>K jednotlivým experimentom ukážte tieto priebehy (tam, kde nie sú uvedené v práci): poloha predného a zadného vozidla v čase, priebeh rýchlostí vozidiel v čase, priebeh skutočnej vzdialenosti medzi vozidlami v čase (podľa výrazu (9)) a priebeh odchýlky skutočnej a referenčnej vzdialenosti v čase (podľa výrazu (10)). Rovnako ukážte priebeh </a:t>
            </a:r>
            <a:r>
              <a:rPr lang="sk-SK" sz="2400" i="1" dirty="0"/>
              <a:t>K' </a:t>
            </a:r>
            <a:r>
              <a:rPr lang="sk-SK" sz="2400" dirty="0"/>
              <a:t>v závislosti od </a:t>
            </a:r>
            <a:r>
              <a:rPr lang="el-GR" sz="2400" i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σ</a:t>
            </a:r>
            <a:r>
              <a:rPr lang="sk-SK" sz="2400" dirty="0"/>
              <a:t> , prípadne porovnanie Obr. 25 s priebehom </a:t>
            </a:r>
            <a:r>
              <a:rPr lang="el-GR" sz="2400" i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σ</a:t>
            </a:r>
            <a:r>
              <a:rPr lang="sk-SK" sz="2400" dirty="0"/>
              <a:t> v čase.</a:t>
            </a:r>
            <a:endParaRPr lang="sk-SK" sz="1400" dirty="0"/>
          </a:p>
        </p:txBody>
      </p:sp>
    </p:spTree>
    <p:extLst>
      <p:ext uri="{BB962C8B-B14F-4D97-AF65-F5344CB8AC3E}">
        <p14:creationId xmlns:p14="http://schemas.microsoft.com/office/powerpoint/2010/main" val="808022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C276741-A626-5AFB-3425-976556ED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10229231" cy="11626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sk-SK" sz="3600" noProof="0" dirty="0"/>
              <a:t>Riadenie s využitím postačujúcej podmienky stability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Obrázok 3" descr="Obrázok, na ktorom je vývoj, rad, text, diagram&#10;&#10;Obsah vygenerovaný pomocou AI môže byť nesprávny.">
            <a:extLst>
              <a:ext uri="{FF2B5EF4-FFF2-40B4-BE49-F238E27FC236}">
                <a16:creationId xmlns:a16="http://schemas.microsoft.com/office/drawing/2014/main" id="{DE0CC7F8-7F19-C226-269E-739DFBACB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857" y="2169236"/>
            <a:ext cx="6186883" cy="3712134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134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DE590-507D-E2E1-BBF5-177EF523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AF2D22-592B-6DDB-8D7C-F55BAF1D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441F35A-4B03-19EF-C56B-0A1E81D7D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97CBE49E-D432-2EE2-9940-B8CB9B05C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0512EDF2-228F-7670-571D-8B7B03783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4B7BEB5-60F2-A508-487E-F2407EA56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4EEABCF-DDCA-78A9-CCC4-518BD25E2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081289C-AC50-1DA2-AC68-C60B5873E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AAEB617-0925-D72F-70BA-548D11537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5A3B10C5-AF1C-6DD4-31CC-53AEFCBBD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9DE6531-FCF0-801F-4443-83675E7E6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33910BB-C277-9C64-4ACB-F9EA4172F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B1F01E6-0223-A9C0-505D-230D3B242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CEB178D-B057-6293-57F7-BADD4D763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D25E6855-8504-B41D-2086-C1D9F35D4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31BAE8B2-DE3B-2668-6B17-5F98755E0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784AC33-C6EB-7FEE-6B9C-C8F72CE7D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E2E153A-DA8C-FA4D-C589-769246F38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71181DF-6832-E94C-3104-CAA764F66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E47D70C-C384-3CA4-D35E-8133E95FB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8A4FDB7C-49CA-4675-634F-C0E155C90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228F5AE1-AC9F-A242-9141-F200F1406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D70EFE73-36D0-EC65-59E0-5836D23D45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2D0235C2-5F3C-219C-9E3D-590DEB93B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C33D8C8A-F04D-D190-3DC7-3E80D5AE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09D417DF-A454-5F73-A8CE-173BB899D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842C9C-DF7F-D4DC-D63C-4ED71E425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685F420-142E-9363-BD55-B062BDEE9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EDAF3E-A71A-4DCA-4397-677B4A73A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11085928" cy="11626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sk-SK" sz="3600" noProof="0" dirty="0"/>
              <a:t>Riadenie s </a:t>
            </a:r>
            <a:r>
              <a:rPr lang="sk-SK" sz="3600" dirty="0"/>
              <a:t>adaptívne meniacim sa parametrom </a:t>
            </a:r>
            <a:r>
              <a:rPr lang="sk-SK" sz="3600" i="1" dirty="0"/>
              <a:t>K'</a:t>
            </a:r>
            <a:endParaRPr lang="sk-SK" sz="3600" noProof="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E304CFD-35B1-F370-ED4D-1005C5388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60B0A5E3-F7AB-173D-E053-F30ACB9FF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3A9E1135-F1D0-124B-3F0A-0FC625AB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7921B091-E0F6-6433-4218-69CF98019E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741A0345-69AC-5C13-7988-B7BB5E691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0542C24-9879-F16D-F65C-3AFAE549B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ok 4" descr="Obrázok, na ktorom je rad, vývoj, text, diagram&#10;&#10;Obsah vygenerovaný pomocou AI môže byť nesprávny.">
            <a:extLst>
              <a:ext uri="{FF2B5EF4-FFF2-40B4-BE49-F238E27FC236}">
                <a16:creationId xmlns:a16="http://schemas.microsoft.com/office/drawing/2014/main" id="{BDB289A5-E12D-29F3-BD89-B0889B903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6802"/>
            <a:ext cx="3959665" cy="2375463"/>
          </a:xfrm>
          <a:prstGeom prst="rect">
            <a:avLst/>
          </a:prstGeom>
        </p:spPr>
      </p:pic>
      <p:pic>
        <p:nvPicPr>
          <p:cNvPr id="38" name="Obrázok 37" descr="Obrázok, na ktorom je rad, diagram, vývoj, text&#10;&#10;Obsah vygenerovaný pomocou AI môže byť nesprávny.">
            <a:extLst>
              <a:ext uri="{FF2B5EF4-FFF2-40B4-BE49-F238E27FC236}">
                <a16:creationId xmlns:a16="http://schemas.microsoft.com/office/drawing/2014/main" id="{C5430E74-3874-C8D8-10E0-F8D2B9F6F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35" y="2536801"/>
            <a:ext cx="3959665" cy="2375463"/>
          </a:xfrm>
          <a:prstGeom prst="rect">
            <a:avLst/>
          </a:prstGeom>
        </p:spPr>
      </p:pic>
      <p:pic>
        <p:nvPicPr>
          <p:cNvPr id="46" name="Obrázok 45" descr="Obrázok, na ktorom je rad, vývoj, diagram, text&#10;&#10;Obsah vygenerovaný pomocou AI môže byť nesprávny.">
            <a:extLst>
              <a:ext uri="{FF2B5EF4-FFF2-40B4-BE49-F238E27FC236}">
                <a16:creationId xmlns:a16="http://schemas.microsoft.com/office/drawing/2014/main" id="{8A9AD7CB-F37E-E1D4-6697-2A45163384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488" y="2536800"/>
            <a:ext cx="3959665" cy="23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25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B1AB7-3F9F-2C3C-2E09-92A041A1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E31DA6D-03FB-A9A1-DF9C-C9B2C887B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74534A-BBED-39F3-2169-29450E315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E2F65AB2-B427-D8B8-DB92-3F8B52700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CA4EEC76-4A8A-C32A-1640-CDBE65BD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D1B7B41-667D-B828-8E86-4F57294DF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00DBDCA-7E20-516C-EFCF-16253D3BE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BDC52DF-513D-5A08-1A1D-2B7B1335C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15AE8F00-707F-FE7F-727C-190036E3D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63A94B90-768F-5B07-36CB-E40352C82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7900BD-7E2D-97B1-A8E0-4C3B35FF0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8A27720-5B80-A940-1F55-3651E8034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8D350EF-F345-E3B8-DE4A-6D439E95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7966E14-4E8E-08F9-1E3E-2B3AB4826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435F32D6-36D7-0102-6C85-B467B4303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0A5A5B25-8AE6-7922-8F8F-048CB8861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0F1C55F-18DA-9961-4B79-35E0D56E9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32FE7AE-DC31-315B-805E-6C698DB63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CA91221-092B-E6FE-2824-462698462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CF0C04A3-06BE-365F-CA6A-D5CB58ACE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A07C3D8F-C9AA-86D8-82E4-32255FC923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F9FFB12-EC95-8F2C-565A-A7873C4B9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630637E6-6166-2F8E-29BA-765F39293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1F66BC-9894-C2D7-81D6-C8B51EAA0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8FC3AE60-F28E-95C1-F608-3398F0453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02986C3B-C4A2-7FCB-B78D-9796C0519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0711DF-5C50-C147-CA4A-6AE6F710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DFCB1E7-809E-593C-1D25-CBF16F02D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FB9E4C9-9310-67EA-58B3-DD109530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11085928" cy="11626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sk-SK" sz="3600" noProof="0" dirty="0"/>
              <a:t>Riadenie s </a:t>
            </a:r>
            <a:r>
              <a:rPr lang="sk-SK" sz="3600" dirty="0"/>
              <a:t>fixným parametrom </a:t>
            </a:r>
            <a:r>
              <a:rPr lang="sk-SK" sz="3600" i="1" dirty="0"/>
              <a:t>K'</a:t>
            </a:r>
            <a:endParaRPr lang="sk-SK" sz="3600" noProof="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D43385-0432-095A-A466-729DDACCF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BFB3A5B-0656-91E9-FA16-54D53581C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60F052B0-C8F3-B2D9-398D-6DA5E3BF60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2E1765B4-2871-CB13-7F61-AD4C612CB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F7BC24FD-F264-C470-8B17-84367F171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45A346E-CCA4-F64B-8DF0-533281F40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ázok 3" descr="Obrázok, na ktorom je rad, vývoj, diagram, text&#10;&#10;Obsah vygenerovaný pomocou AI môže byť nesprávny.">
            <a:extLst>
              <a:ext uri="{FF2B5EF4-FFF2-40B4-BE49-F238E27FC236}">
                <a16:creationId xmlns:a16="http://schemas.microsoft.com/office/drawing/2014/main" id="{17903DF5-C421-AA20-252B-C8DB15831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489" y="2554092"/>
            <a:ext cx="3959665" cy="2375463"/>
          </a:xfrm>
          <a:prstGeom prst="rect">
            <a:avLst/>
          </a:prstGeom>
        </p:spPr>
      </p:pic>
      <p:pic>
        <p:nvPicPr>
          <p:cNvPr id="7" name="Obrázok 6" descr="Obrázok, na ktorom je rad, diagram, vývoj, text&#10;&#10;Obsah vygenerovaný pomocou AI môže byť nesprávny.">
            <a:extLst>
              <a:ext uri="{FF2B5EF4-FFF2-40B4-BE49-F238E27FC236}">
                <a16:creationId xmlns:a16="http://schemas.microsoft.com/office/drawing/2014/main" id="{B959C242-CB8F-2FAA-DEF6-02139CE08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944" y="2554092"/>
            <a:ext cx="3959665" cy="2375463"/>
          </a:xfrm>
          <a:prstGeom prst="rect">
            <a:avLst/>
          </a:prstGeom>
        </p:spPr>
      </p:pic>
      <p:pic>
        <p:nvPicPr>
          <p:cNvPr id="36" name="Obrázok 35" descr="Obrázok, na ktorom je text, rad, vývoj, diagram&#10;&#10;Obsah vygenerovaný pomocou AI môže byť nesprávny.">
            <a:extLst>
              <a:ext uri="{FF2B5EF4-FFF2-40B4-BE49-F238E27FC236}">
                <a16:creationId xmlns:a16="http://schemas.microsoft.com/office/drawing/2014/main" id="{76BE5D14-16C3-D78F-2494-2FD96C111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" y="2554092"/>
            <a:ext cx="3959665" cy="23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83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8C155-C510-AE6B-61B2-E78DCFFF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707DAF2-065D-5272-C328-3DBEF403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 noProof="0" dirty="0"/>
              <a:t>Riadenie </a:t>
            </a:r>
            <a:br>
              <a:rPr lang="sk-SK" noProof="0" dirty="0"/>
            </a:br>
            <a:r>
              <a:rPr lang="en-US" noProof="0" dirty="0"/>
              <a:t>s </a:t>
            </a:r>
            <a:r>
              <a:rPr lang="sk-SK" noProof="0" dirty="0" err="1"/>
              <a:t>kvázikĺzavým</a:t>
            </a:r>
            <a:r>
              <a:rPr lang="en-US" dirty="0"/>
              <a:t> </a:t>
            </a:r>
            <a:r>
              <a:rPr lang="sk-SK" noProof="0" dirty="0"/>
              <a:t>režimom</a:t>
            </a:r>
            <a:endParaRPr lang="en-US" noProof="0" dirty="0"/>
          </a:p>
        </p:txBody>
      </p:sp>
      <p:pic>
        <p:nvPicPr>
          <p:cNvPr id="38" name="Obrázok 37">
            <a:extLst>
              <a:ext uri="{FF2B5EF4-FFF2-40B4-BE49-F238E27FC236}">
                <a16:creationId xmlns:a16="http://schemas.microsoft.com/office/drawing/2014/main" id="{569DB26F-A88A-A03C-DDAF-90537916C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7877" y="895286"/>
            <a:ext cx="3662263" cy="2197047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09359097-70AB-40D4-4D78-217D56C0D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8901" y="3757864"/>
            <a:ext cx="3662263" cy="2197047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82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6" name="Obrázok 45" descr="Obrázok, na ktorom je text, diagram, vývoj, rad&#10;&#10;Obsah vygenerovaný pomocou AI môže byť nesprávny.">
            <a:extLst>
              <a:ext uri="{FF2B5EF4-FFF2-40B4-BE49-F238E27FC236}">
                <a16:creationId xmlns:a16="http://schemas.microsoft.com/office/drawing/2014/main" id="{A2675E0B-4D85-0132-F554-8D49F4197B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59" y="895130"/>
            <a:ext cx="3662263" cy="2197360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ok 4">
            <a:extLst>
              <a:ext uri="{FF2B5EF4-FFF2-40B4-BE49-F238E27FC236}">
                <a16:creationId xmlns:a16="http://schemas.microsoft.com/office/drawing/2014/main" id="{A06A17C1-6867-1729-B8F3-CA67DC2F9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30028" y="3759398"/>
            <a:ext cx="3657150" cy="219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04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EC52A-6CEE-D5D8-6C28-EBE6F85C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45C36C74-0D5F-DD7D-A04D-89FD43DCE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F492CB7-7036-C4C4-CE60-30A40A8325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7A0DCACA-BC4D-9720-6B55-1F626A795F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5A50D588-F907-C687-C326-FE8A1D434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5666384-C945-A197-DB88-FE6799CA41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0AFB94C-9AB8-6BB3-C47D-4FE9410361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B96C263-BF15-8825-5AE3-EB7DD3E27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63">
              <a:extLst>
                <a:ext uri="{FF2B5EF4-FFF2-40B4-BE49-F238E27FC236}">
                  <a16:creationId xmlns:a16="http://schemas.microsoft.com/office/drawing/2014/main" id="{E5F6B951-B02A-F827-5CB7-9BDF78B66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64">
              <a:extLst>
                <a:ext uri="{FF2B5EF4-FFF2-40B4-BE49-F238E27FC236}">
                  <a16:creationId xmlns:a16="http://schemas.microsoft.com/office/drawing/2014/main" id="{EA2C50A9-BA47-54C6-5A9C-6526DB548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020714C-8E11-C9F1-B8DD-95A75DE1A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4DFFD4C-A584-9502-A92B-05AE24548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1E60264-492A-0440-66F8-DBC1491F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29EFA50-E8DC-147B-06BC-66E4C80CDD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70">
              <a:extLst>
                <a:ext uri="{FF2B5EF4-FFF2-40B4-BE49-F238E27FC236}">
                  <a16:creationId xmlns:a16="http://schemas.microsoft.com/office/drawing/2014/main" id="{CDAF3DD5-6B33-4BD8-C4CC-42CC4856D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71">
              <a:extLst>
                <a:ext uri="{FF2B5EF4-FFF2-40B4-BE49-F238E27FC236}">
                  <a16:creationId xmlns:a16="http://schemas.microsoft.com/office/drawing/2014/main" id="{84E9DD61-1AB6-902E-8AD9-B4D7B795C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3D1A3A2-D992-CE88-DD74-713A0EE77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61BBD2E-9C4E-2C1C-A46D-6FE36C2A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A1AC6AE-8EA5-0A04-4920-2BEE14AEC1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75">
              <a:extLst>
                <a:ext uri="{FF2B5EF4-FFF2-40B4-BE49-F238E27FC236}">
                  <a16:creationId xmlns:a16="http://schemas.microsoft.com/office/drawing/2014/main" id="{F58DBDFE-2D1D-537B-B51F-E260B5779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76">
              <a:extLst>
                <a:ext uri="{FF2B5EF4-FFF2-40B4-BE49-F238E27FC236}">
                  <a16:creationId xmlns:a16="http://schemas.microsoft.com/office/drawing/2014/main" id="{B7FA50F5-F3E7-567D-FF40-CECABE224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77">
              <a:extLst>
                <a:ext uri="{FF2B5EF4-FFF2-40B4-BE49-F238E27FC236}">
                  <a16:creationId xmlns:a16="http://schemas.microsoft.com/office/drawing/2014/main" id="{20A7954B-4582-D0BD-F505-83F64E9EA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8">
              <a:extLst>
                <a:ext uri="{FF2B5EF4-FFF2-40B4-BE49-F238E27FC236}">
                  <a16:creationId xmlns:a16="http://schemas.microsoft.com/office/drawing/2014/main" id="{D44626F1-6338-EAAA-C1E9-726D6E727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79">
              <a:extLst>
                <a:ext uri="{FF2B5EF4-FFF2-40B4-BE49-F238E27FC236}">
                  <a16:creationId xmlns:a16="http://schemas.microsoft.com/office/drawing/2014/main" id="{ED87EB30-18D7-1531-B037-BE266D9C2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 80">
              <a:extLst>
                <a:ext uri="{FF2B5EF4-FFF2-40B4-BE49-F238E27FC236}">
                  <a16:creationId xmlns:a16="http://schemas.microsoft.com/office/drawing/2014/main" id="{DBF762D2-5FA8-33E2-2015-08D1B1112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 81">
              <a:extLst>
                <a:ext uri="{FF2B5EF4-FFF2-40B4-BE49-F238E27FC236}">
                  <a16:creationId xmlns:a16="http://schemas.microsoft.com/office/drawing/2014/main" id="{92B8FB64-E7B6-53D3-B62B-B4CA6085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52C11AE-E540-E51C-08A8-FD96AEFC4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33EAF703-9EB8-0A90-BC6C-87DBA97A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068A221-63D5-90F3-015E-C978C6D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8334"/>
            <a:ext cx="4062598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 noProof="0" dirty="0"/>
              <a:t>Riadenie </a:t>
            </a:r>
            <a:br>
              <a:rPr lang="sk-SK" noProof="0" dirty="0"/>
            </a:br>
            <a:r>
              <a:rPr lang="en-US" noProof="0" dirty="0"/>
              <a:t>s </a:t>
            </a:r>
            <a:r>
              <a:rPr lang="sk-SK" noProof="0" dirty="0"/>
              <a:t>kĺzavým</a:t>
            </a:r>
            <a:r>
              <a:rPr lang="sk-SK" dirty="0"/>
              <a:t> </a:t>
            </a:r>
            <a:r>
              <a:rPr lang="sk-SK" noProof="0" dirty="0"/>
              <a:t>režimom</a:t>
            </a:r>
            <a:endParaRPr lang="en-US" noProof="0" dirty="0"/>
          </a:p>
        </p:txBody>
      </p:sp>
      <p:pic>
        <p:nvPicPr>
          <p:cNvPr id="38" name="Obrázok 37">
            <a:extLst>
              <a:ext uri="{FF2B5EF4-FFF2-40B4-BE49-F238E27FC236}">
                <a16:creationId xmlns:a16="http://schemas.microsoft.com/office/drawing/2014/main" id="{775F737B-1DD7-7887-89D0-A449FC13E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7877" y="895286"/>
            <a:ext cx="3662262" cy="2197047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2546E792-5D96-63DA-773A-A809353A2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8901" y="3757864"/>
            <a:ext cx="3662262" cy="2197047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016A76EA-8A2A-A0A6-6DAB-74568B35F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82" name="Freeform 85">
              <a:extLst>
                <a:ext uri="{FF2B5EF4-FFF2-40B4-BE49-F238E27FC236}">
                  <a16:creationId xmlns:a16="http://schemas.microsoft.com/office/drawing/2014/main" id="{C1E46ED5-CB24-7DEB-7766-053418DA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 87">
              <a:extLst>
                <a:ext uri="{FF2B5EF4-FFF2-40B4-BE49-F238E27FC236}">
                  <a16:creationId xmlns:a16="http://schemas.microsoft.com/office/drawing/2014/main" id="{FC6BB4C7-F58F-B9CD-262A-15438017C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 89">
              <a:extLst>
                <a:ext uri="{FF2B5EF4-FFF2-40B4-BE49-F238E27FC236}">
                  <a16:creationId xmlns:a16="http://schemas.microsoft.com/office/drawing/2014/main" id="{1A370B25-FB40-289F-3118-7B5B91506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 100">
              <a:extLst>
                <a:ext uri="{FF2B5EF4-FFF2-40B4-BE49-F238E27FC236}">
                  <a16:creationId xmlns:a16="http://schemas.microsoft.com/office/drawing/2014/main" id="{0290B2C7-6E7F-6A9B-52FC-F44E165B4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6" name="Obrázok 45">
            <a:extLst>
              <a:ext uri="{FF2B5EF4-FFF2-40B4-BE49-F238E27FC236}">
                <a16:creationId xmlns:a16="http://schemas.microsoft.com/office/drawing/2014/main" id="{13290224-2DD3-B9EE-E35A-23971B404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25359" y="895286"/>
            <a:ext cx="3662263" cy="2197047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C8DAC9F-51F5-E7F6-4B18-5FDF1E2FE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ok 4">
            <a:extLst>
              <a:ext uri="{FF2B5EF4-FFF2-40B4-BE49-F238E27FC236}">
                <a16:creationId xmlns:a16="http://schemas.microsoft.com/office/drawing/2014/main" id="{DD272CEE-8CC7-E492-F7D1-D351479D0D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30028" y="3759398"/>
            <a:ext cx="3657149" cy="219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1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EE22D-6EF2-1BEA-D6CB-5C5F357D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E2D939C-242B-0B1D-7708-21D405F69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7588903" cy="106324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sk-SK" sz="3600" noProof="0" dirty="0"/>
              <a:t>Parameter</a:t>
            </a:r>
            <a:r>
              <a:rPr lang="sk-SK" sz="3600" dirty="0"/>
              <a:t> </a:t>
            </a:r>
            <a:r>
              <a:rPr lang="sk-SK" sz="3600" i="1" dirty="0"/>
              <a:t>K' v závislosti od </a:t>
            </a:r>
            <a:r>
              <a:rPr lang="el-GR" sz="3600" i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σ</a:t>
            </a:r>
            <a:r>
              <a:rPr lang="sk-SK" sz="3600" i="1" dirty="0"/>
              <a:t> </a:t>
            </a:r>
            <a:endParaRPr lang="en-US" sz="3600" noProof="0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81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Obrázok 4">
            <a:extLst>
              <a:ext uri="{FF2B5EF4-FFF2-40B4-BE49-F238E27FC236}">
                <a16:creationId xmlns:a16="http://schemas.microsoft.com/office/drawing/2014/main" id="{0AF206ED-943F-17F5-25B3-E50C81287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1489" y="2429553"/>
            <a:ext cx="5326632" cy="3195527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3D14B9DE-7C0F-715F-46E2-E0B2F60CC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06759" y="2422476"/>
            <a:ext cx="5329858" cy="3197463"/>
          </a:xfrm>
          <a:prstGeom prst="rect">
            <a:avLst/>
          </a:prstGeom>
        </p:spPr>
      </p:pic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79167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AnalogousFromDarkSeedLeftStep">
      <a:dk1>
        <a:srgbClr val="000000"/>
      </a:dk1>
      <a:lt1>
        <a:srgbClr val="FFFFFF"/>
      </a:lt1>
      <a:dk2>
        <a:srgbClr val="322A1C"/>
      </a:dk2>
      <a:lt2>
        <a:srgbClr val="F0F1F3"/>
      </a:lt2>
      <a:accent1>
        <a:srgbClr val="C39A4D"/>
      </a:accent1>
      <a:accent2>
        <a:srgbClr val="B1573B"/>
      </a:accent2>
      <a:accent3>
        <a:srgbClr val="C34D62"/>
      </a:accent3>
      <a:accent4>
        <a:srgbClr val="B13B82"/>
      </a:accent4>
      <a:accent5>
        <a:srgbClr val="C24DC3"/>
      </a:accent5>
      <a:accent6>
        <a:srgbClr val="7E3BB1"/>
      </a:accent6>
      <a:hlink>
        <a:srgbClr val="C043AD"/>
      </a:hlink>
      <a:folHlink>
        <a:srgbClr val="7F7F7F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3514</TotalTime>
  <Words>1301</Words>
  <Application>Microsoft Office PowerPoint</Application>
  <PresentationFormat>Širokouhlá</PresentationFormat>
  <Paragraphs>139</Paragraphs>
  <Slides>32</Slides>
  <Notes>8</Notes>
  <HiddenSlides>0</HiddenSlides>
  <MMClips>0</MMClips>
  <ScaleCrop>false</ScaleCrop>
  <HeadingPairs>
    <vt:vector size="6" baseType="variant">
      <vt:variant>
        <vt:lpstr>Použité písma</vt:lpstr>
      </vt:variant>
      <vt:variant>
        <vt:i4>10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32</vt:i4>
      </vt:variant>
    </vt:vector>
  </HeadingPairs>
  <TitlesOfParts>
    <vt:vector size="43" baseType="lpstr">
      <vt:lpstr>Aptos</vt:lpstr>
      <vt:lpstr>Arial</vt:lpstr>
      <vt:lpstr>Avenir Next</vt:lpstr>
      <vt:lpstr>Cambria</vt:lpstr>
      <vt:lpstr>Cambria Math</vt:lpstr>
      <vt:lpstr>Neue Haas Grotesk Text Pro</vt:lpstr>
      <vt:lpstr>Neue Haas Grotesk Text Pro (Nadpisy)</vt:lpstr>
      <vt:lpstr>Neue Haas Grotesk Text Pro (Text)</vt:lpstr>
      <vt:lpstr>Segoe UI Symbol</vt:lpstr>
      <vt:lpstr>Times New Roman</vt:lpstr>
      <vt:lpstr>PunchcardVTI</vt:lpstr>
      <vt:lpstr>Histogramové metódy a zlepšenie kontrastu</vt:lpstr>
      <vt:lpstr>Cieľ práce</vt:lpstr>
      <vt:lpstr>Model dynamiky vozidla a jeho spracovanie</vt:lpstr>
      <vt:lpstr>Vytvorenie simulačnej schémy modelu vozidla</vt:lpstr>
      <vt:lpstr>Popis fungovania časového odstupu medzi vozidlami</vt:lpstr>
      <vt:lpstr>Návrh riadenia</vt:lpstr>
      <vt:lpstr>Zákon riadenia</vt:lpstr>
      <vt:lpstr>Prepínacia funkcia</vt:lpstr>
      <vt:lpstr>Riadenie systému</vt:lpstr>
      <vt:lpstr>Riadenie s kĺzavým režimom</vt:lpstr>
      <vt:lpstr>Oscilácia pri riadení s kĺzavým režimom </vt:lpstr>
      <vt:lpstr>Typy navrhnutých riadení</vt:lpstr>
      <vt:lpstr>Vplyv šírky prechodového pásma na akčný zásah</vt:lpstr>
      <vt:lpstr>Vplyv šírky prechodového pásma na presnosť riadenia</vt:lpstr>
      <vt:lpstr>Experimentálne overenie funkčnosti riadenia</vt:lpstr>
      <vt:lpstr>Rozšírenie tempomatu</vt:lpstr>
      <vt:lpstr>Overenie funkčnosti fixnej rezervy a obmedzenia hnacej sily</vt:lpstr>
      <vt:lpstr>Vplyv parametrov z_f a h na tempomat</vt:lpstr>
      <vt:lpstr>Adaptívne nastavenie parametra K′</vt:lpstr>
      <vt:lpstr>Odvodenie zákona riadenia využitím postačujúcej podmienky stability</vt:lpstr>
      <vt:lpstr>Zhrnutie</vt:lpstr>
      <vt:lpstr>Ďakujem za pozornosť</vt:lpstr>
      <vt:lpstr>Str. 15 Prečo vystupuje rýchlosť vo výraze (8) v absolútnej hodnote? Bude sa systém správať rovnako pri kladnej aj zápornej rýchlosti? </vt:lpstr>
      <vt:lpstr>Prezentácia programu PowerPoint</vt:lpstr>
      <vt:lpstr>Str. 33 Ako je definované vo výraze (55) β*?</vt:lpstr>
      <vt:lpstr>K jednotlivým experimentom ukážte tieto priebehy (tam, kde nie sú uvedené v práci): poloha predného a zadného vozidla v čase, priebeh rýchlostí vozidiel v čase, priebeh skutočnej vzdialenosti medzi vozidlami v čase (podľa výrazu (9)) a priebeh odchýlky skutočnej a referenčnej vzdialenosti v čase (podľa výrazu (10)). Rovnako ukážte priebeh K' v závislosti od σ , prípadne porovnanie Obr. 25 s priebehom σ v čase.</vt:lpstr>
      <vt:lpstr>Riadenie s využitím postačujúcej podmienky stability</vt:lpstr>
      <vt:lpstr>Riadenie s adaptívne meniacim sa parametrom K'</vt:lpstr>
      <vt:lpstr>Riadenie s fixným parametrom K'</vt:lpstr>
      <vt:lpstr>Riadenie  s kvázikĺzavým režimom</vt:lpstr>
      <vt:lpstr>Riadenie  s kĺzavým režimom</vt:lpstr>
      <vt:lpstr>Parameter K' v závislosti od σ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Brandobur</dc:creator>
  <cp:lastModifiedBy>Martin Brandobur</cp:lastModifiedBy>
  <cp:revision>27</cp:revision>
  <dcterms:created xsi:type="dcterms:W3CDTF">2024-12-02T01:36:49Z</dcterms:created>
  <dcterms:modified xsi:type="dcterms:W3CDTF">2026-03-31T16:30:50Z</dcterms:modified>
</cp:coreProperties>
</file>